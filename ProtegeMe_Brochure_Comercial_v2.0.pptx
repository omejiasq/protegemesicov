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5148072"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73152" cy="51480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914400"/>
            <a:ext cx="6949440" cy="1097280"/>
          </a:xfrm>
          <a:prstGeom prst="rect">
            <a:avLst/>
          </a:prstGeom>
          <a:noFill/>
        </p:spPr>
        <p:txBody>
          <a:bodyPr wrap="square">
            <a:spAutoFit/>
          </a:bodyPr>
          <a:lstStyle/>
          <a:p>
            <a:pPr algn="ctr"/>
            <a:r>
              <a:rPr sz="5400" b="1" i="0">
                <a:solidFill>
                  <a:srgbClr val="FFFFFF"/>
                </a:solidFill>
                <a:latin typeface="Calibri"/>
              </a:rPr>
              <a:t>ProtegeMe</a:t>
            </a:r>
          </a:p>
        </p:txBody>
      </p:sp>
      <p:sp>
        <p:nvSpPr>
          <p:cNvPr id="4" name="TextBox 3"/>
          <p:cNvSpPr txBox="1"/>
          <p:nvPr/>
        </p:nvSpPr>
        <p:spPr>
          <a:xfrm>
            <a:off x="1097280" y="1920240"/>
            <a:ext cx="6949440" cy="457200"/>
          </a:xfrm>
          <a:prstGeom prst="rect">
            <a:avLst/>
          </a:prstGeom>
          <a:noFill/>
        </p:spPr>
        <p:txBody>
          <a:bodyPr wrap="square">
            <a:spAutoFit/>
          </a:bodyPr>
          <a:lstStyle/>
          <a:p>
            <a:pPr algn="ctr"/>
            <a:r>
              <a:rPr sz="1400" b="1" i="0">
                <a:solidFill>
                  <a:srgbClr val="27AE60"/>
                </a:solidFill>
                <a:latin typeface="Calibri"/>
              </a:rPr>
              <a:t>SISTEMA INTEGRADO DE SEGURIDAD VIAL EMPRESARIAL</a:t>
            </a:r>
          </a:p>
        </p:txBody>
      </p:sp>
      <p:sp>
        <p:nvSpPr>
          <p:cNvPr id="5" name="TextBox 4"/>
          <p:cNvSpPr txBox="1"/>
          <p:nvPr/>
        </p:nvSpPr>
        <p:spPr>
          <a:xfrm>
            <a:off x="1097280" y="2423160"/>
            <a:ext cx="6949440" cy="365760"/>
          </a:xfrm>
          <a:prstGeom prst="rect">
            <a:avLst/>
          </a:prstGeom>
          <a:noFill/>
        </p:spPr>
        <p:txBody>
          <a:bodyPr wrap="square">
            <a:spAutoFit/>
          </a:bodyPr>
          <a:lstStyle/>
          <a:p>
            <a:pPr algn="ctr"/>
            <a:r>
              <a:rPr sz="1100" b="0" i="0">
                <a:solidFill>
                  <a:srgbClr val="A0B4D2"/>
                </a:solidFill>
                <a:latin typeface="Calibri"/>
              </a:rPr>
              <a:t>PESV  ·  SICOV  ·  Hábitos de Conducción  ·  IA  ·  Alertas en Tiempo Real</a:t>
            </a:r>
          </a:p>
        </p:txBody>
      </p:sp>
      <p:sp>
        <p:nvSpPr>
          <p:cNvPr id="6" name="Rectangle 5"/>
          <p:cNvSpPr/>
          <p:nvPr/>
        </p:nvSpPr>
        <p:spPr>
          <a:xfrm>
            <a:off x="1828800" y="2926080"/>
            <a:ext cx="5486400" cy="182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108960"/>
            <a:ext cx="6949440" cy="320040"/>
          </a:xfrm>
          <a:prstGeom prst="rect">
            <a:avLst/>
          </a:prstGeom>
          <a:noFill/>
        </p:spPr>
        <p:txBody>
          <a:bodyPr wrap="square">
            <a:spAutoFit/>
          </a:bodyPr>
          <a:lstStyle/>
          <a:p>
            <a:pPr algn="ctr"/>
            <a:r>
              <a:rPr sz="1000" b="0" i="1">
                <a:solidFill>
                  <a:srgbClr val="969696"/>
                </a:solidFill>
                <a:latin typeface="Calibri"/>
              </a:rPr>
              <a:t>ITFusion  |  Abril 2026  |  Documento Comercial Confidencial</a:t>
            </a:r>
          </a:p>
        </p:txBody>
      </p:sp>
      <p:sp>
        <p:nvSpPr>
          <p:cNvPr id="8" name="TextBox 7"/>
          <p:cNvSpPr txBox="1"/>
          <p:nvPr/>
        </p:nvSpPr>
        <p:spPr>
          <a:xfrm>
            <a:off x="182880" y="4114800"/>
            <a:ext cx="8778240" cy="822960"/>
          </a:xfrm>
          <a:prstGeom prst="rect">
            <a:avLst/>
          </a:prstGeom>
          <a:noFill/>
        </p:spPr>
        <p:txBody>
          <a:bodyPr wrap="square">
            <a:spAutoFit/>
          </a:bodyPr>
          <a:lstStyle/>
          <a:p>
            <a:r>
              <a:rPr b="1" sz="900">
                <a:solidFill>
                  <a:srgbClr val="27AE60"/>
                </a:solidFill>
              </a:rPr>
              <a:t>🎨 GRÁFICO — Portada:  </a:t>
            </a:r>
            <a:r>
              <a:rPr sz="900" i="1">
                <a:solidFill>
                  <a:srgbClr val="96C896"/>
                </a:solidFill>
              </a:rPr>
              <a:t>Fondo degradado azul marino. Escudo moderno con checkmark verde en centro. Íconos flotantes: GPS, smartphone, velocímetro, gráfica. Estilo glassmorphism oscuro, neón verde sutil.</a:t>
            </a:r>
          </a:p>
        </p:txBody>
      </p:sp>
      <p:sp>
        <p:nvSpPr>
          <p:cNvPr id="9" name="Rectangle 8"/>
          <p:cNvSpPr/>
          <p:nvPr/>
        </p:nvSpPr>
        <p:spPr>
          <a:xfrm>
            <a:off x="137160" y="4069080"/>
            <a:ext cx="8869680" cy="914400"/>
          </a:xfrm>
          <a:prstGeom prst="rect">
            <a:avLst/>
          </a:prstGeom>
          <a:solidFill>
            <a:srgbClr val="1E3C28"/>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73152" cy="51480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8686800" cy="502920"/>
          </a:xfrm>
          <a:prstGeom prst="rect">
            <a:avLst/>
          </a:prstGeom>
          <a:noFill/>
        </p:spPr>
        <p:txBody>
          <a:bodyPr wrap="square">
            <a:spAutoFit/>
          </a:bodyPr>
          <a:lstStyle/>
          <a:p>
            <a:pPr algn="l"/>
            <a:r>
              <a:rPr sz="2800" b="1" i="0">
                <a:solidFill>
                  <a:srgbClr val="FFFFFF"/>
                </a:solidFill>
                <a:latin typeface="Calibri"/>
              </a:rPr>
              <a:t>El Problema que Resolvemos</a:t>
            </a:r>
          </a:p>
        </p:txBody>
      </p:sp>
      <p:sp>
        <p:nvSpPr>
          <p:cNvPr id="4" name="Rectangle 3"/>
          <p:cNvSpPr/>
          <p:nvPr/>
        </p:nvSpPr>
        <p:spPr>
          <a:xfrm>
            <a:off x="274320" y="749808"/>
            <a:ext cx="8595360" cy="1828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868680"/>
            <a:ext cx="5029200" cy="4023360"/>
          </a:xfrm>
          <a:prstGeom prst="rect">
            <a:avLst/>
          </a:prstGeom>
          <a:noFill/>
        </p:spPr>
        <p:txBody>
          <a:bodyPr wrap="square">
            <a:spAutoFit/>
          </a:bodyPr>
          <a:lstStyle/>
          <a:p>
            <a:pPr>
              <a:spcBef>
                <a:spcPts val="800"/>
              </a:spcBef>
            </a:pPr>
            <a:r>
              <a:rPr sz="1400">
                <a:solidFill>
                  <a:srgbClr val="E67E22"/>
                </a:solidFill>
              </a:rPr>
              <a:t>⏰  </a:t>
            </a:r>
            <a:r>
              <a:rPr b="1" sz="1400">
                <a:solidFill>
                  <a:srgbClr val="FFFFFF"/>
                </a:solidFill>
              </a:rPr>
              <a:t>2–3 h/mes</a:t>
            </a:r>
            <a:r>
              <a:rPr sz="1300">
                <a:solidFill>
                  <a:srgbClr val="BEC8D7"/>
                </a:solidFill>
              </a:rPr>
              <a:t> digitando en SISI-PESV datos que ya existen en sus sistemas</a:t>
            </a:r>
          </a:p>
          <a:p>
            <a:pPr>
              <a:spcBef>
                <a:spcPts val="800"/>
              </a:spcBef>
            </a:pPr>
            <a:r>
              <a:rPr sz="1400">
                <a:solidFill>
                  <a:srgbClr val="E67E22"/>
                </a:solidFill>
              </a:rPr>
              <a:t>🔁  </a:t>
            </a:r>
            <a:r>
              <a:rPr b="1" sz="1400">
                <a:solidFill>
                  <a:srgbClr val="FFFFFF"/>
                </a:solidFill>
              </a:rPr>
              <a:t>Doble digitación</a:t>
            </a:r>
            <a:r>
              <a:rPr sz="1300">
                <a:solidFill>
                  <a:srgbClr val="BEC8D7"/>
                </a:solidFill>
              </a:rPr>
              <a:t> — papel → software propio → portal Supertransporte</a:t>
            </a:r>
          </a:p>
          <a:p>
            <a:pPr>
              <a:spcBef>
                <a:spcPts val="800"/>
              </a:spcBef>
            </a:pPr>
            <a:r>
              <a:rPr sz="1400">
                <a:solidFill>
                  <a:srgbClr val="E67E22"/>
                </a:solidFill>
              </a:rPr>
              <a:t>❌  </a:t>
            </a:r>
            <a:r>
              <a:rPr b="1" sz="1400">
                <a:solidFill>
                  <a:srgbClr val="FFFFFF"/>
                </a:solidFill>
              </a:rPr>
              <a:t>Multas hasta $200M</a:t>
            </a:r>
            <a:r>
              <a:rPr sz="1300">
                <a:solidFill>
                  <a:srgbClr val="BEC8D7"/>
                </a:solidFill>
              </a:rPr>
              <a:t> por errores u omisiones en el reporte PESV</a:t>
            </a:r>
          </a:p>
          <a:p>
            <a:pPr>
              <a:spcBef>
                <a:spcPts val="800"/>
              </a:spcBef>
            </a:pPr>
            <a:r>
              <a:rPr sz="1400">
                <a:solidFill>
                  <a:srgbClr val="E67E22"/>
                </a:solidFill>
              </a:rPr>
              <a:t>📂  </a:t>
            </a:r>
            <a:r>
              <a:rPr b="1" sz="1400">
                <a:solidFill>
                  <a:srgbClr val="FFFFFF"/>
                </a:solidFill>
              </a:rPr>
              <a:t>Sin respaldo digital</a:t>
            </a:r>
            <a:r>
              <a:rPr sz="1300">
                <a:solidFill>
                  <a:srgbClr val="BEC8D7"/>
                </a:solidFill>
              </a:rPr>
              <a:t> — evidencias dispersas en carpetas o correos</a:t>
            </a:r>
          </a:p>
          <a:p>
            <a:pPr>
              <a:spcBef>
                <a:spcPts val="800"/>
              </a:spcBef>
            </a:pPr>
            <a:r>
              <a:rPr sz="1400">
                <a:solidFill>
                  <a:srgbClr val="E67E22"/>
                </a:solidFill>
              </a:rPr>
              <a:t>🚨  </a:t>
            </a:r>
            <a:r>
              <a:rPr b="1" sz="1400">
                <a:solidFill>
                  <a:srgbClr val="FFFFFF"/>
                </a:solidFill>
              </a:rPr>
              <a:t>Sin prevención activa</a:t>
            </a:r>
            <a:r>
              <a:rPr sz="1300">
                <a:solidFill>
                  <a:srgbClr val="BEC8D7"/>
                </a:solidFill>
              </a:rPr>
              <a:t> — los accidentes ocurren porque no hay alertas en tiempo real</a:t>
            </a:r>
          </a:p>
        </p:txBody>
      </p:sp>
      <p:sp>
        <p:nvSpPr>
          <p:cNvPr id="6" name="TextBox 5"/>
          <p:cNvSpPr txBox="1"/>
          <p:nvPr/>
        </p:nvSpPr>
        <p:spPr>
          <a:xfrm>
            <a:off x="5394960" y="914400"/>
            <a:ext cx="3566160" cy="3017520"/>
          </a:xfrm>
          <a:prstGeom prst="rect">
            <a:avLst/>
          </a:prstGeom>
          <a:noFill/>
        </p:spPr>
        <p:txBody>
          <a:bodyPr wrap="square">
            <a:spAutoFit/>
          </a:bodyPr>
          <a:lstStyle/>
          <a:p>
            <a:r>
              <a:rPr b="1" sz="900">
                <a:solidFill>
                  <a:srgbClr val="27AE60"/>
                </a:solidFill>
              </a:rPr>
              <a:t>🎨 GRÁFICO — El Problema:  </a:t>
            </a:r>
            <a:r>
              <a:rPr sz="900" i="1">
                <a:solidFill>
                  <a:srgbClr val="96C896"/>
                </a:solidFill>
              </a:rPr>
              <a:t>3 íconos grandes en columna vertical. Rojo: reloj frustrado "2-3h digitando". Naranja: documento tachado "Multas $200M". Gris: ojo cerrado "Sin visibilidad". Flat design moderno.</a:t>
            </a:r>
          </a:p>
        </p:txBody>
      </p:sp>
      <p:sp>
        <p:nvSpPr>
          <p:cNvPr id="7" name="Rectangle 6"/>
          <p:cNvSpPr/>
          <p:nvPr/>
        </p:nvSpPr>
        <p:spPr>
          <a:xfrm>
            <a:off x="5349240" y="868680"/>
            <a:ext cx="3657600" cy="3108960"/>
          </a:xfrm>
          <a:prstGeom prst="rect">
            <a:avLst/>
          </a:prstGeom>
          <a:solidFill>
            <a:srgbClr val="1E3C28"/>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73152" cy="51480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686800" cy="502920"/>
          </a:xfrm>
          <a:prstGeom prst="rect">
            <a:avLst/>
          </a:prstGeom>
          <a:noFill/>
        </p:spPr>
        <p:txBody>
          <a:bodyPr wrap="square">
            <a:spAutoFit/>
          </a:bodyPr>
          <a:lstStyle/>
          <a:p>
            <a:pPr algn="l"/>
            <a:r>
              <a:rPr sz="2800" b="1" i="0">
                <a:solidFill>
                  <a:srgbClr val="FFFFFF"/>
                </a:solidFill>
                <a:latin typeface="Calibri"/>
              </a:rPr>
              <a:t>La Solución: ProtegeMe</a:t>
            </a:r>
          </a:p>
        </p:txBody>
      </p:sp>
      <p:sp>
        <p:nvSpPr>
          <p:cNvPr id="4" name="Rectangle 3"/>
          <p:cNvSpPr/>
          <p:nvPr/>
        </p:nvSpPr>
        <p:spPr>
          <a:xfrm>
            <a:off x="274320" y="704088"/>
            <a:ext cx="8595360" cy="182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77240"/>
            <a:ext cx="8595360" cy="365760"/>
          </a:xfrm>
          <a:prstGeom prst="rect">
            <a:avLst/>
          </a:prstGeom>
          <a:noFill/>
        </p:spPr>
        <p:txBody>
          <a:bodyPr wrap="square">
            <a:spAutoFit/>
          </a:bodyPr>
          <a:lstStyle/>
          <a:p>
            <a:pPr algn="ctr"/>
            <a:r>
              <a:rPr sz="1400" b="1" i="0">
                <a:solidFill>
                  <a:srgbClr val="27AE60"/>
                </a:solidFill>
                <a:latin typeface="Calibri"/>
              </a:rPr>
              <a:t>Un solo ecosistema. Datos compartidos. Cumplimiento automático.</a:t>
            </a:r>
          </a:p>
        </p:txBody>
      </p:sp>
      <p:sp>
        <p:nvSpPr>
          <p:cNvPr id="6" name="Rectangle 5"/>
          <p:cNvSpPr/>
          <p:nvPr/>
        </p:nvSpPr>
        <p:spPr>
          <a:xfrm>
            <a:off x="457200" y="1234440"/>
            <a:ext cx="1920240" cy="2560320"/>
          </a:xfrm>
          <a:prstGeom prst="rect">
            <a:avLst/>
          </a:prstGeom>
          <a:solidFill>
            <a:srgbClr val="14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80160"/>
            <a:ext cx="457200" cy="457200"/>
          </a:xfrm>
          <a:prstGeom prst="rect">
            <a:avLst/>
          </a:prstGeom>
          <a:noFill/>
        </p:spPr>
        <p:txBody>
          <a:bodyPr wrap="square">
            <a:spAutoFit/>
          </a:bodyPr>
          <a:lstStyle/>
          <a:p>
            <a:pPr algn="l"/>
            <a:r>
              <a:rPr sz="2800" b="1" i="0">
                <a:solidFill>
                  <a:srgbClr val="27AE60"/>
                </a:solidFill>
                <a:latin typeface="Calibri"/>
              </a:rPr>
              <a:t>1</a:t>
            </a:r>
          </a:p>
        </p:txBody>
      </p:sp>
      <p:sp>
        <p:nvSpPr>
          <p:cNvPr id="8" name="TextBox 7"/>
          <p:cNvSpPr txBox="1"/>
          <p:nvPr/>
        </p:nvSpPr>
        <p:spPr>
          <a:xfrm>
            <a:off x="502920" y="1691640"/>
            <a:ext cx="1828800" cy="411480"/>
          </a:xfrm>
          <a:prstGeom prst="rect">
            <a:avLst/>
          </a:prstGeom>
          <a:noFill/>
        </p:spPr>
        <p:txBody>
          <a:bodyPr wrap="square">
            <a:spAutoFit/>
          </a:bodyPr>
          <a:lstStyle/>
          <a:p>
            <a:pPr algn="l"/>
            <a:r>
              <a:rPr sz="1600" b="1" i="0">
                <a:solidFill>
                  <a:srgbClr val="FFFFFF"/>
                </a:solidFill>
                <a:latin typeface="Calibri"/>
              </a:rPr>
              <a:t>SICOV</a:t>
            </a:r>
          </a:p>
        </p:txBody>
      </p:sp>
      <p:sp>
        <p:nvSpPr>
          <p:cNvPr id="9" name="TextBox 8"/>
          <p:cNvSpPr txBox="1"/>
          <p:nvPr/>
        </p:nvSpPr>
        <p:spPr>
          <a:xfrm>
            <a:off x="502920" y="2103120"/>
            <a:ext cx="1828800" cy="914400"/>
          </a:xfrm>
          <a:prstGeom prst="rect">
            <a:avLst/>
          </a:prstGeom>
          <a:noFill/>
        </p:spPr>
        <p:txBody>
          <a:bodyPr wrap="square">
            <a:spAutoFit/>
          </a:bodyPr>
          <a:lstStyle/>
          <a:p>
            <a:pPr algn="l"/>
            <a:r>
              <a:rPr sz="1100" b="0" i="0">
                <a:solidFill>
                  <a:srgbClr val="B4C8DC"/>
                </a:solidFill>
                <a:latin typeface="Calibri"/>
              </a:rPr>
              <a:t>Alistamiento + Mantenimiento
→ SICOV automático</a:t>
            </a:r>
          </a:p>
        </p:txBody>
      </p:sp>
      <p:sp>
        <p:nvSpPr>
          <p:cNvPr id="10" name="Rectangle 9"/>
          <p:cNvSpPr/>
          <p:nvPr/>
        </p:nvSpPr>
        <p:spPr>
          <a:xfrm>
            <a:off x="2560320" y="1234440"/>
            <a:ext cx="1920240" cy="2560320"/>
          </a:xfrm>
          <a:prstGeom prst="rect">
            <a:avLst/>
          </a:prstGeom>
          <a:solidFill>
            <a:srgbClr val="14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06040" y="1280160"/>
            <a:ext cx="457200" cy="457200"/>
          </a:xfrm>
          <a:prstGeom prst="rect">
            <a:avLst/>
          </a:prstGeom>
          <a:noFill/>
        </p:spPr>
        <p:txBody>
          <a:bodyPr wrap="square">
            <a:spAutoFit/>
          </a:bodyPr>
          <a:lstStyle/>
          <a:p>
            <a:pPr algn="l"/>
            <a:r>
              <a:rPr sz="2800" b="1" i="0">
                <a:solidFill>
                  <a:srgbClr val="27AE60"/>
                </a:solidFill>
                <a:latin typeface="Calibri"/>
              </a:rPr>
              <a:t>2</a:t>
            </a:r>
          </a:p>
        </p:txBody>
      </p:sp>
      <p:sp>
        <p:nvSpPr>
          <p:cNvPr id="12" name="TextBox 11"/>
          <p:cNvSpPr txBox="1"/>
          <p:nvPr/>
        </p:nvSpPr>
        <p:spPr>
          <a:xfrm>
            <a:off x="2606040" y="1691640"/>
            <a:ext cx="1828800" cy="411480"/>
          </a:xfrm>
          <a:prstGeom prst="rect">
            <a:avLst/>
          </a:prstGeom>
          <a:noFill/>
        </p:spPr>
        <p:txBody>
          <a:bodyPr wrap="square">
            <a:spAutoFit/>
          </a:bodyPr>
          <a:lstStyle/>
          <a:p>
            <a:pPr algn="l"/>
            <a:r>
              <a:rPr sz="1600" b="1" i="0">
                <a:solidFill>
                  <a:srgbClr val="FFFFFF"/>
                </a:solidFill>
                <a:latin typeface="Calibri"/>
              </a:rPr>
              <a:t>Hábitos</a:t>
            </a:r>
          </a:p>
        </p:txBody>
      </p:sp>
      <p:sp>
        <p:nvSpPr>
          <p:cNvPr id="13" name="TextBox 12"/>
          <p:cNvSpPr txBox="1"/>
          <p:nvPr/>
        </p:nvSpPr>
        <p:spPr>
          <a:xfrm>
            <a:off x="2606040" y="2103120"/>
            <a:ext cx="1828800" cy="914400"/>
          </a:xfrm>
          <a:prstGeom prst="rect">
            <a:avLst/>
          </a:prstGeom>
          <a:noFill/>
        </p:spPr>
        <p:txBody>
          <a:bodyPr wrap="square">
            <a:spAutoFit/>
          </a:bodyPr>
          <a:lstStyle/>
          <a:p>
            <a:pPr algn="l"/>
            <a:r>
              <a:rPr sz="1100" b="0" i="0">
                <a:solidFill>
                  <a:srgbClr val="B4C8DC"/>
                </a:solidFill>
                <a:latin typeface="Calibri"/>
              </a:rPr>
              <a:t>Score conductual + Alertas
velocidad en tiempo real</a:t>
            </a:r>
          </a:p>
        </p:txBody>
      </p:sp>
      <p:sp>
        <p:nvSpPr>
          <p:cNvPr id="14" name="Rectangle 13"/>
          <p:cNvSpPr/>
          <p:nvPr/>
        </p:nvSpPr>
        <p:spPr>
          <a:xfrm>
            <a:off x="4663440" y="1234440"/>
            <a:ext cx="1920240" cy="2560320"/>
          </a:xfrm>
          <a:prstGeom prst="rect">
            <a:avLst/>
          </a:prstGeom>
          <a:solidFill>
            <a:srgbClr val="14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09160" y="1280160"/>
            <a:ext cx="457200" cy="457200"/>
          </a:xfrm>
          <a:prstGeom prst="rect">
            <a:avLst/>
          </a:prstGeom>
          <a:noFill/>
        </p:spPr>
        <p:txBody>
          <a:bodyPr wrap="square">
            <a:spAutoFit/>
          </a:bodyPr>
          <a:lstStyle/>
          <a:p>
            <a:pPr algn="l"/>
            <a:r>
              <a:rPr sz="2800" b="1" i="0">
                <a:solidFill>
                  <a:srgbClr val="27AE60"/>
                </a:solidFill>
                <a:latin typeface="Calibri"/>
              </a:rPr>
              <a:t>3</a:t>
            </a:r>
          </a:p>
        </p:txBody>
      </p:sp>
      <p:sp>
        <p:nvSpPr>
          <p:cNvPr id="16" name="TextBox 15"/>
          <p:cNvSpPr txBox="1"/>
          <p:nvPr/>
        </p:nvSpPr>
        <p:spPr>
          <a:xfrm>
            <a:off x="4709160" y="1691640"/>
            <a:ext cx="1828800" cy="411480"/>
          </a:xfrm>
          <a:prstGeom prst="rect">
            <a:avLst/>
          </a:prstGeom>
          <a:noFill/>
        </p:spPr>
        <p:txBody>
          <a:bodyPr wrap="square">
            <a:spAutoFit/>
          </a:bodyPr>
          <a:lstStyle/>
          <a:p>
            <a:pPr algn="l"/>
            <a:r>
              <a:rPr sz="1600" b="1" i="0">
                <a:solidFill>
                  <a:srgbClr val="FFFFFF"/>
                </a:solidFill>
                <a:latin typeface="Calibri"/>
              </a:rPr>
              <a:t>Alcoholemia</a:t>
            </a:r>
          </a:p>
        </p:txBody>
      </p:sp>
      <p:sp>
        <p:nvSpPr>
          <p:cNvPr id="17" name="TextBox 16"/>
          <p:cNvSpPr txBox="1"/>
          <p:nvPr/>
        </p:nvSpPr>
        <p:spPr>
          <a:xfrm>
            <a:off x="4709160" y="2103120"/>
            <a:ext cx="1828800" cy="914400"/>
          </a:xfrm>
          <a:prstGeom prst="rect">
            <a:avLst/>
          </a:prstGeom>
          <a:noFill/>
        </p:spPr>
        <p:txBody>
          <a:bodyPr wrap="square">
            <a:spAutoFit/>
          </a:bodyPr>
          <a:lstStyle/>
          <a:p>
            <a:pPr algn="l"/>
            <a:r>
              <a:rPr sz="1100" b="0" i="0">
                <a:solidFill>
                  <a:srgbClr val="B4C8DC"/>
                </a:solidFill>
                <a:latin typeface="Calibri"/>
              </a:rPr>
              <a:t>BLE preventiva
+ reconocimiento facial</a:t>
            </a:r>
          </a:p>
        </p:txBody>
      </p:sp>
      <p:sp>
        <p:nvSpPr>
          <p:cNvPr id="18" name="Rectangle 17"/>
          <p:cNvSpPr/>
          <p:nvPr/>
        </p:nvSpPr>
        <p:spPr>
          <a:xfrm>
            <a:off x="6766560" y="1234440"/>
            <a:ext cx="1920240" cy="2560320"/>
          </a:xfrm>
          <a:prstGeom prst="rect">
            <a:avLst/>
          </a:prstGeom>
          <a:solidFill>
            <a:srgbClr val="14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2280" y="1280160"/>
            <a:ext cx="457200" cy="457200"/>
          </a:xfrm>
          <a:prstGeom prst="rect">
            <a:avLst/>
          </a:prstGeom>
          <a:noFill/>
        </p:spPr>
        <p:txBody>
          <a:bodyPr wrap="square">
            <a:spAutoFit/>
          </a:bodyPr>
          <a:lstStyle/>
          <a:p>
            <a:pPr algn="l"/>
            <a:r>
              <a:rPr sz="2800" b="1" i="0">
                <a:solidFill>
                  <a:srgbClr val="27AE60"/>
                </a:solidFill>
                <a:latin typeface="Calibri"/>
              </a:rPr>
              <a:t>4</a:t>
            </a:r>
          </a:p>
        </p:txBody>
      </p:sp>
      <p:sp>
        <p:nvSpPr>
          <p:cNvPr id="20" name="TextBox 19"/>
          <p:cNvSpPr txBox="1"/>
          <p:nvPr/>
        </p:nvSpPr>
        <p:spPr>
          <a:xfrm>
            <a:off x="6812280" y="1691640"/>
            <a:ext cx="1828800" cy="411480"/>
          </a:xfrm>
          <a:prstGeom prst="rect">
            <a:avLst/>
          </a:prstGeom>
          <a:noFill/>
        </p:spPr>
        <p:txBody>
          <a:bodyPr wrap="square">
            <a:spAutoFit/>
          </a:bodyPr>
          <a:lstStyle/>
          <a:p>
            <a:pPr algn="l"/>
            <a:r>
              <a:rPr sz="1600" b="1" i="0">
                <a:solidFill>
                  <a:srgbClr val="FFFFFF"/>
                </a:solidFill>
                <a:latin typeface="Calibri"/>
              </a:rPr>
              <a:t>PESV IA</a:t>
            </a:r>
          </a:p>
        </p:txBody>
      </p:sp>
      <p:sp>
        <p:nvSpPr>
          <p:cNvPr id="21" name="TextBox 20"/>
          <p:cNvSpPr txBox="1"/>
          <p:nvPr/>
        </p:nvSpPr>
        <p:spPr>
          <a:xfrm>
            <a:off x="6812280" y="2103120"/>
            <a:ext cx="1828800" cy="914400"/>
          </a:xfrm>
          <a:prstGeom prst="rect">
            <a:avLst/>
          </a:prstGeom>
          <a:noFill/>
        </p:spPr>
        <p:txBody>
          <a:bodyPr wrap="square">
            <a:spAutoFit/>
          </a:bodyPr>
          <a:lstStyle/>
          <a:p>
            <a:pPr algn="l"/>
            <a:r>
              <a:rPr sz="1100" b="0" i="0">
                <a:solidFill>
                  <a:srgbClr val="B4C8DC"/>
                </a:solidFill>
                <a:latin typeface="Calibri"/>
              </a:rPr>
              <a:t>F1+F2 auto-calculados
Dashboard ejecutivo</a:t>
            </a:r>
          </a:p>
        </p:txBody>
      </p:sp>
      <p:sp>
        <p:nvSpPr>
          <p:cNvPr id="22" name="TextBox 21"/>
          <p:cNvSpPr txBox="1"/>
          <p:nvPr/>
        </p:nvSpPr>
        <p:spPr>
          <a:xfrm>
            <a:off x="182880" y="3977639"/>
            <a:ext cx="8778240" cy="914400"/>
          </a:xfrm>
          <a:prstGeom prst="rect">
            <a:avLst/>
          </a:prstGeom>
          <a:noFill/>
        </p:spPr>
        <p:txBody>
          <a:bodyPr wrap="square">
            <a:spAutoFit/>
          </a:bodyPr>
          <a:lstStyle/>
          <a:p>
            <a:r>
              <a:rPr b="1" sz="900">
                <a:solidFill>
                  <a:srgbClr val="27AE60"/>
                </a:solidFill>
              </a:rPr>
              <a:t>🎨 GRÁFICO — Ecosistema:  </a:t>
            </a:r>
            <a:r>
              <a:rPr sz="900" i="1">
                <a:solidFill>
                  <a:srgbClr val="96C896"/>
                </a:solidFill>
              </a:rPr>
              <a:t>Diagrama circular con 4 módulos. Centro: escudo ProtegeMe. Flechas verdes circulares entre módulos. Dark theme, glassmorphism, neón verde.</a:t>
            </a:r>
          </a:p>
        </p:txBody>
      </p:sp>
      <p:sp>
        <p:nvSpPr>
          <p:cNvPr id="23" name="Rectangle 22"/>
          <p:cNvSpPr/>
          <p:nvPr/>
        </p:nvSpPr>
        <p:spPr>
          <a:xfrm>
            <a:off x="137160" y="3931920"/>
            <a:ext cx="8869680" cy="1005840"/>
          </a:xfrm>
          <a:prstGeom prst="rect">
            <a:avLst/>
          </a:prstGeom>
          <a:solidFill>
            <a:srgbClr val="1E3C28"/>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73152" cy="51480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9070848" cy="685800"/>
          </a:xfrm>
          <a:prstGeom prst="rect">
            <a:avLst/>
          </a:prstGeom>
          <a:solidFill>
            <a:srgbClr val="14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6400800" cy="502920"/>
          </a:xfrm>
          <a:prstGeom prst="rect">
            <a:avLst/>
          </a:prstGeom>
          <a:noFill/>
        </p:spPr>
        <p:txBody>
          <a:bodyPr wrap="square">
            <a:spAutoFit/>
          </a:bodyPr>
          <a:lstStyle/>
          <a:p>
            <a:pPr algn="l"/>
            <a:r>
              <a:rPr sz="2200" b="1" i="0">
                <a:solidFill>
                  <a:srgbClr val="FFFFFF"/>
                </a:solidFill>
                <a:latin typeface="Calibri"/>
              </a:rPr>
              <a:t>Módulo 1  —  ProtegeMe SICOV</a:t>
            </a:r>
          </a:p>
        </p:txBody>
      </p:sp>
      <p:sp>
        <p:nvSpPr>
          <p:cNvPr id="5" name="TextBox 4"/>
          <p:cNvSpPr txBox="1"/>
          <p:nvPr/>
        </p:nvSpPr>
        <p:spPr>
          <a:xfrm>
            <a:off x="228600" y="640080"/>
            <a:ext cx="8686800" cy="347472"/>
          </a:xfrm>
          <a:prstGeom prst="rect">
            <a:avLst/>
          </a:prstGeom>
          <a:noFill/>
        </p:spPr>
        <p:txBody>
          <a:bodyPr wrap="square">
            <a:spAutoFit/>
          </a:bodyPr>
          <a:lstStyle/>
          <a:p>
            <a:pPr algn="l"/>
            <a:r>
              <a:rPr sz="1200" b="1" i="0">
                <a:solidFill>
                  <a:srgbClr val="27AE60"/>
                </a:solidFill>
                <a:latin typeface="Calibri"/>
              </a:rPr>
              <a:t>Alistamiento · Mantenimiento · SICOV Automático</a:t>
            </a:r>
          </a:p>
        </p:txBody>
      </p:sp>
      <p:sp>
        <p:nvSpPr>
          <p:cNvPr id="6" name="Rectangle 5"/>
          <p:cNvSpPr/>
          <p:nvPr/>
        </p:nvSpPr>
        <p:spPr>
          <a:xfrm>
            <a:off x="365760" y="1024128"/>
            <a:ext cx="8412480" cy="182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097280"/>
            <a:ext cx="5120640" cy="3474720"/>
          </a:xfrm>
          <a:prstGeom prst="rect">
            <a:avLst/>
          </a:prstGeom>
          <a:noFill/>
        </p:spPr>
        <p:txBody>
          <a:bodyPr wrap="square">
            <a:spAutoFit/>
          </a:bodyPr>
          <a:lstStyle/>
          <a:p>
            <a:pPr>
              <a:spcBef>
                <a:spcPts val="1000"/>
              </a:spcBef>
            </a:pPr>
            <a:r>
              <a:rPr sz="1400">
                <a:solidFill>
                  <a:srgbClr val="27AE60"/>
                </a:solidFill>
              </a:rPr>
              <a:t>✅  </a:t>
            </a:r>
            <a:r>
              <a:rPr b="1" sz="1400">
                <a:solidFill>
                  <a:srgbClr val="FFFFFF"/>
                </a:solidFill>
              </a:rPr>
              <a:t>Alistamiento digital:</a:t>
            </a:r>
            <a:r>
              <a:rPr sz="1300">
                <a:solidFill>
                  <a:srgbClr val="BEC8D7"/>
                </a:solidFill>
              </a:rPr>
              <a:t> check-list configurable + firma digital + PDF automático</a:t>
            </a:r>
          </a:p>
          <a:p>
            <a:pPr>
              <a:spcBef>
                <a:spcPts val="1000"/>
              </a:spcBef>
            </a:pPr>
            <a:r>
              <a:rPr sz="1400">
                <a:solidFill>
                  <a:srgbClr val="27AE60"/>
                </a:solidFill>
              </a:rPr>
              <a:t>✅  </a:t>
            </a:r>
            <a:r>
              <a:rPr b="1" sz="1400">
                <a:solidFill>
                  <a:srgbClr val="FFFFFF"/>
                </a:solidFill>
              </a:rPr>
              <a:t>SICOV automático:</a:t>
            </a:r>
            <a:r>
              <a:rPr sz="1300">
                <a:solidFill>
                  <a:srgbClr val="BEC8D7"/>
                </a:solidFill>
              </a:rPr>
              <a:t> genera códigos 1–11 para Supertransporte sin digitación extra</a:t>
            </a:r>
          </a:p>
          <a:p>
            <a:pPr>
              <a:spcBef>
                <a:spcPts val="1000"/>
              </a:spcBef>
            </a:pPr>
            <a:r>
              <a:rPr sz="1400">
                <a:solidFill>
                  <a:srgbClr val="27AE60"/>
                </a:solidFill>
              </a:rPr>
              <a:t>✅  </a:t>
            </a:r>
            <a:r>
              <a:rPr b="1" sz="1400">
                <a:solidFill>
                  <a:srgbClr val="FFFFFF"/>
                </a:solidFill>
              </a:rPr>
              <a:t>F2 mensual:</a:t>
            </a:r>
            <a:r>
              <a:rPr sz="1300">
                <a:solidFill>
                  <a:srgbClr val="BEC8D7"/>
                </a:solidFill>
              </a:rPr>
              <a:t> se calcula solo con los datos del sistema</a:t>
            </a:r>
          </a:p>
          <a:p>
            <a:pPr>
              <a:spcBef>
                <a:spcPts val="1000"/>
              </a:spcBef>
            </a:pPr>
            <a:r>
              <a:rPr sz="1400">
                <a:solidFill>
                  <a:srgbClr val="27AE60"/>
                </a:solidFill>
              </a:rPr>
              <a:t>✅  </a:t>
            </a:r>
            <a:r>
              <a:rPr b="1" sz="1400">
                <a:solidFill>
                  <a:srgbClr val="FFFFFF"/>
                </a:solidFill>
              </a:rPr>
              <a:t>Dashboard de vencimientos:</a:t>
            </a:r>
            <a:r>
              <a:rPr sz="1300">
                <a:solidFill>
                  <a:srgbClr val="BEC8D7"/>
                </a:solidFill>
              </a:rPr>
              <a:t> SOAT, RTM, licencias con alertas push</a:t>
            </a:r>
          </a:p>
          <a:p>
            <a:pPr>
              <a:spcBef>
                <a:spcPts val="1000"/>
              </a:spcBef>
            </a:pPr>
            <a:r>
              <a:rPr sz="1400">
                <a:solidFill>
                  <a:srgbClr val="27AE60"/>
                </a:solidFill>
              </a:rPr>
              <a:t>✅  </a:t>
            </a:r>
            <a:r>
              <a:rPr b="1" sz="1400">
                <a:solidFill>
                  <a:srgbClr val="FFFFFF"/>
                </a:solidFill>
              </a:rPr>
              <a:t>Importación masiva:</a:t>
            </a:r>
            <a:r>
              <a:rPr sz="1300">
                <a:solidFill>
                  <a:srgbClr val="BEC8D7"/>
                </a:solidFill>
              </a:rPr>
              <a:t> vehículos y conductores por CSV o API</a:t>
            </a:r>
          </a:p>
        </p:txBody>
      </p:sp>
      <p:sp>
        <p:nvSpPr>
          <p:cNvPr id="8" name="TextBox 7"/>
          <p:cNvSpPr txBox="1"/>
          <p:nvPr/>
        </p:nvSpPr>
        <p:spPr>
          <a:xfrm>
            <a:off x="274320" y="4480560"/>
            <a:ext cx="4572000" cy="365760"/>
          </a:xfrm>
          <a:prstGeom prst="rect">
            <a:avLst/>
          </a:prstGeom>
          <a:noFill/>
        </p:spPr>
        <p:txBody>
          <a:bodyPr wrap="square">
            <a:spAutoFit/>
          </a:bodyPr>
          <a:lstStyle/>
          <a:p>
            <a:pPr algn="l"/>
            <a:r>
              <a:rPr sz="1300" b="1" i="0">
                <a:solidFill>
                  <a:srgbClr val="27AE60"/>
                </a:solidFill>
                <a:latin typeface="Calibri"/>
              </a:rPr>
              <a:t>desde COP $14,000 / vehículo / mes</a:t>
            </a:r>
          </a:p>
        </p:txBody>
      </p:sp>
      <p:sp>
        <p:nvSpPr>
          <p:cNvPr id="9" name="TextBox 8"/>
          <p:cNvSpPr txBox="1"/>
          <p:nvPr/>
        </p:nvSpPr>
        <p:spPr>
          <a:xfrm>
            <a:off x="5394960" y="1097280"/>
            <a:ext cx="3566160" cy="2926080"/>
          </a:xfrm>
          <a:prstGeom prst="rect">
            <a:avLst/>
          </a:prstGeom>
          <a:noFill/>
        </p:spPr>
        <p:txBody>
          <a:bodyPr wrap="square">
            <a:spAutoFit/>
          </a:bodyPr>
          <a:lstStyle/>
          <a:p>
            <a:r>
              <a:rPr b="1" sz="900">
                <a:solidFill>
                  <a:srgbClr val="27AE60"/>
                </a:solidFill>
              </a:rPr>
              <a:t>🎨 GRÁFICO — SICOV:  </a:t>
            </a:r>
            <a:r>
              <a:rPr sz="900" i="1">
                <a:solidFill>
                  <a:srgbClr val="96C896"/>
                </a:solidFill>
              </a:rPr>
              <a:t>Mockup smartphone con checklist de alistamiento vehicular. Camión borroso de fondo. Checkmarks verdes en pantalla. Botón "Enviar a SICOV". UI moderna azul/verde.</a:t>
            </a:r>
          </a:p>
        </p:txBody>
      </p:sp>
      <p:sp>
        <p:nvSpPr>
          <p:cNvPr id="10" name="Rectangle 9"/>
          <p:cNvSpPr/>
          <p:nvPr/>
        </p:nvSpPr>
        <p:spPr>
          <a:xfrm>
            <a:off x="5349240" y="1051560"/>
            <a:ext cx="3657600" cy="3017520"/>
          </a:xfrm>
          <a:prstGeom prst="rect">
            <a:avLst/>
          </a:prstGeom>
          <a:solidFill>
            <a:srgbClr val="1E3C28"/>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73152" cy="51480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9070848" cy="685800"/>
          </a:xfrm>
          <a:prstGeom prst="rect">
            <a:avLst/>
          </a:prstGeom>
          <a:solidFill>
            <a:srgbClr val="14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7772400" cy="502920"/>
          </a:xfrm>
          <a:prstGeom prst="rect">
            <a:avLst/>
          </a:prstGeom>
          <a:noFill/>
        </p:spPr>
        <p:txBody>
          <a:bodyPr wrap="square">
            <a:spAutoFit/>
          </a:bodyPr>
          <a:lstStyle/>
          <a:p>
            <a:pPr algn="l"/>
            <a:r>
              <a:rPr sz="2000" b="1" i="0">
                <a:solidFill>
                  <a:srgbClr val="FFFFFF"/>
                </a:solidFill>
                <a:latin typeface="Calibri"/>
              </a:rPr>
              <a:t>Módulo 2  —  Hábitos de Conducción + Alertas Real Time</a:t>
            </a:r>
          </a:p>
        </p:txBody>
      </p:sp>
      <p:sp>
        <p:nvSpPr>
          <p:cNvPr id="5" name="TextBox 4"/>
          <p:cNvSpPr txBox="1"/>
          <p:nvPr/>
        </p:nvSpPr>
        <p:spPr>
          <a:xfrm>
            <a:off x="228600" y="640080"/>
            <a:ext cx="8686800" cy="347472"/>
          </a:xfrm>
          <a:prstGeom prst="rect">
            <a:avLst/>
          </a:prstGeom>
          <a:noFill/>
        </p:spPr>
        <p:txBody>
          <a:bodyPr wrap="square">
            <a:spAutoFit/>
          </a:bodyPr>
          <a:lstStyle/>
          <a:p>
            <a:pPr algn="l"/>
            <a:r>
              <a:rPr sz="1100" b="1" i="0">
                <a:solidFill>
                  <a:srgbClr val="27AE60"/>
                </a:solidFill>
                <a:latin typeface="Calibri"/>
              </a:rPr>
              <a:t>Score Conductual · Alcoholemia BLE · Alertas Velocidad · Notificaciones Push</a:t>
            </a:r>
          </a:p>
        </p:txBody>
      </p:sp>
      <p:sp>
        <p:nvSpPr>
          <p:cNvPr id="6" name="Rectangle 5"/>
          <p:cNvSpPr/>
          <p:nvPr/>
        </p:nvSpPr>
        <p:spPr>
          <a:xfrm>
            <a:off x="365760" y="1024128"/>
            <a:ext cx="8412480" cy="182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097280"/>
            <a:ext cx="5120640" cy="3200400"/>
          </a:xfrm>
          <a:prstGeom prst="rect">
            <a:avLst/>
          </a:prstGeom>
          <a:noFill/>
        </p:spPr>
        <p:txBody>
          <a:bodyPr wrap="square">
            <a:spAutoFit/>
          </a:bodyPr>
          <a:lstStyle/>
          <a:p>
            <a:pPr>
              <a:spcBef>
                <a:spcPts val="800"/>
              </a:spcBef>
            </a:pPr>
            <a:r>
              <a:rPr sz="1250">
                <a:solidFill>
                  <a:srgbClr val="27AE60"/>
                </a:solidFill>
              </a:rPr>
              <a:t>✅  </a:t>
            </a:r>
            <a:r>
              <a:rPr b="1" sz="1250">
                <a:solidFill>
                  <a:srgbClr val="FFFFFF"/>
                </a:solidFill>
              </a:rPr>
              <a:t>Check-in facial biométrico:</a:t>
            </a:r>
            <a:r>
              <a:rPr sz="1150">
                <a:solidFill>
                  <a:srgbClr val="BEC8D7"/>
                </a:solidFill>
              </a:rPr>
              <a:t> identidad verificada antes de cada turno</a:t>
            </a:r>
          </a:p>
          <a:p>
            <a:pPr>
              <a:spcBef>
                <a:spcPts val="800"/>
              </a:spcBef>
            </a:pPr>
            <a:r>
              <a:rPr sz="1250">
                <a:solidFill>
                  <a:srgbClr val="27AE60"/>
                </a:solidFill>
              </a:rPr>
              <a:t>✅  </a:t>
            </a:r>
            <a:r>
              <a:rPr b="1" sz="1250">
                <a:solidFill>
                  <a:srgbClr val="FFFFFF"/>
                </a:solidFill>
              </a:rPr>
              <a:t>Alcoholemia BLE:</a:t>
            </a:r>
            <a:r>
              <a:rPr sz="1150">
                <a:solidFill>
                  <a:srgbClr val="BEC8D7"/>
                </a:solidFill>
              </a:rPr>
              <a:t> prueba preventiva integrada con bloqueo automático</a:t>
            </a:r>
          </a:p>
          <a:p>
            <a:pPr>
              <a:spcBef>
                <a:spcPts val="800"/>
              </a:spcBef>
            </a:pPr>
            <a:r>
              <a:rPr sz="1250">
                <a:solidFill>
                  <a:srgbClr val="27AE60"/>
                </a:solidFill>
              </a:rPr>
              <a:t>✅  </a:t>
            </a:r>
            <a:r>
              <a:rPr b="1" sz="1250">
                <a:solidFill>
                  <a:srgbClr val="FFFFFF"/>
                </a:solidFill>
              </a:rPr>
              <a:t>Score por viaje:</a:t>
            </a:r>
            <a:r>
              <a:rPr sz="1150">
                <a:solidFill>
                  <a:srgbClr val="BEC8D7"/>
                </a:solidFill>
              </a:rPr>
              <a:t> frenadas, aceleraciones, giros, excesos calificados automáticamente</a:t>
            </a:r>
          </a:p>
          <a:p>
            <a:pPr>
              <a:spcBef>
                <a:spcPts val="800"/>
              </a:spcBef>
            </a:pPr>
            <a:r>
              <a:rPr sz="1250">
                <a:solidFill>
                  <a:srgbClr val="27AE60"/>
                </a:solidFill>
              </a:rPr>
              <a:t>✅  </a:t>
            </a:r>
            <a:r>
              <a:rPr b="1" sz="1250">
                <a:solidFill>
                  <a:srgbClr val="FFFFFF"/>
                </a:solidFill>
              </a:rPr>
              <a:t>Alerta velocidad zona (NUEVO):</a:t>
            </a:r>
            <a:r>
              <a:rPr sz="1150">
                <a:solidFill>
                  <a:srgbClr val="BEC8D7"/>
                </a:solidFill>
              </a:rPr>
              <a:t> push al conductor si supera límite OSM de la zona</a:t>
            </a:r>
          </a:p>
          <a:p>
            <a:pPr>
              <a:spcBef>
                <a:spcPts val="800"/>
              </a:spcBef>
            </a:pPr>
            <a:r>
              <a:rPr sz="1250">
                <a:solidFill>
                  <a:srgbClr val="27AE60"/>
                </a:solidFill>
              </a:rPr>
              <a:t>✅  </a:t>
            </a:r>
            <a:r>
              <a:rPr b="1" sz="1250">
                <a:solidFill>
                  <a:srgbClr val="FFFFFF"/>
                </a:solidFill>
              </a:rPr>
              <a:t>Alerta radar fotomulta (NUEVO):</a:t>
            </a:r>
            <a:r>
              <a:rPr sz="1150">
                <a:solidFill>
                  <a:srgbClr val="BEC8D7"/>
                </a:solidFill>
              </a:rPr>
              <a:t> aviso anticipado al acercarse a radares</a:t>
            </a:r>
          </a:p>
          <a:p>
            <a:pPr>
              <a:spcBef>
                <a:spcPts val="800"/>
              </a:spcBef>
            </a:pPr>
            <a:r>
              <a:rPr sz="1250">
                <a:solidFill>
                  <a:srgbClr val="27AE60"/>
                </a:solidFill>
              </a:rPr>
              <a:t>✅  </a:t>
            </a:r>
            <a:r>
              <a:rPr b="1" sz="1250">
                <a:solidFill>
                  <a:srgbClr val="FFFFFF"/>
                </a:solidFill>
              </a:rPr>
              <a:t>Recomendación fin viaje (NUEVO):</a:t>
            </a:r>
            <a:r>
              <a:rPr sz="1150">
                <a:solidFill>
                  <a:srgbClr val="BEC8D7"/>
                </a:solidFill>
              </a:rPr>
              <a:t> tip personalizado según score del conductor</a:t>
            </a:r>
          </a:p>
          <a:p>
            <a:pPr>
              <a:spcBef>
                <a:spcPts val="800"/>
              </a:spcBef>
            </a:pPr>
            <a:r>
              <a:rPr sz="1250">
                <a:solidFill>
                  <a:srgbClr val="27AE60"/>
                </a:solidFill>
              </a:rPr>
              <a:t>✅  </a:t>
            </a:r>
            <a:r>
              <a:rPr b="1" sz="1250">
                <a:solidFill>
                  <a:srgbClr val="FFFFFF"/>
                </a:solidFill>
              </a:rPr>
              <a:t>Monitor flota web (NUEVO):</a:t>
            </a:r>
            <a:r>
              <a:rPr sz="1150">
                <a:solidFill>
                  <a:srgbClr val="BEC8D7"/>
                </a:solidFill>
              </a:rPr>
              <a:t> mapa en tiempo real para supervisor PESV</a:t>
            </a:r>
          </a:p>
        </p:txBody>
      </p:sp>
      <p:sp>
        <p:nvSpPr>
          <p:cNvPr id="8" name="TextBox 7"/>
          <p:cNvSpPr txBox="1"/>
          <p:nvPr/>
        </p:nvSpPr>
        <p:spPr>
          <a:xfrm>
            <a:off x="274320" y="4434840"/>
            <a:ext cx="4572000" cy="365760"/>
          </a:xfrm>
          <a:prstGeom prst="rect">
            <a:avLst/>
          </a:prstGeom>
          <a:noFill/>
        </p:spPr>
        <p:txBody>
          <a:bodyPr wrap="square">
            <a:spAutoFit/>
          </a:bodyPr>
          <a:lstStyle/>
          <a:p>
            <a:pPr algn="l"/>
            <a:r>
              <a:rPr sz="1300" b="1" i="0">
                <a:solidFill>
                  <a:srgbClr val="27AE60"/>
                </a:solidFill>
                <a:latin typeface="Calibri"/>
              </a:rPr>
              <a:t>desde COP $24,000 / conductor / mes</a:t>
            </a:r>
          </a:p>
        </p:txBody>
      </p:sp>
      <p:sp>
        <p:nvSpPr>
          <p:cNvPr id="9" name="TextBox 8"/>
          <p:cNvSpPr txBox="1"/>
          <p:nvPr/>
        </p:nvSpPr>
        <p:spPr>
          <a:xfrm>
            <a:off x="5394960" y="1097280"/>
            <a:ext cx="3566160" cy="3017520"/>
          </a:xfrm>
          <a:prstGeom prst="rect">
            <a:avLst/>
          </a:prstGeom>
          <a:noFill/>
        </p:spPr>
        <p:txBody>
          <a:bodyPr wrap="square">
            <a:spAutoFit/>
          </a:bodyPr>
          <a:lstStyle/>
          <a:p>
            <a:r>
              <a:rPr b="1" sz="900">
                <a:solidFill>
                  <a:srgbClr val="27AE60"/>
                </a:solidFill>
              </a:rPr>
              <a:t>🎨 GRÁFICO — Alertas de conducción:  </a:t>
            </a:r>
            <a:r>
              <a:rPr sz="900" i="1">
                <a:solidFill>
                  <a:srgbClr val="96C896"/>
                </a:solidFill>
              </a:rPr>
              <a:t>2 pantallas smartphone: izq=mapa con ruta+alertas rojas de frenada+velocímetro naranja, score 78/100. Der=notificación push "⚠️ Exceso velocidad — Zona 50km/h — llevas 67km/h". Dark automotive dashboard, glassmorphism, neón verde/naranja.</a:t>
            </a:r>
          </a:p>
        </p:txBody>
      </p:sp>
      <p:sp>
        <p:nvSpPr>
          <p:cNvPr id="10" name="Rectangle 9"/>
          <p:cNvSpPr/>
          <p:nvPr/>
        </p:nvSpPr>
        <p:spPr>
          <a:xfrm>
            <a:off x="5349240" y="1051560"/>
            <a:ext cx="3657600" cy="3108960"/>
          </a:xfrm>
          <a:prstGeom prst="rect">
            <a:avLst/>
          </a:prstGeom>
          <a:solidFill>
            <a:srgbClr val="1E3C28"/>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73152" cy="51480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9070848" cy="685800"/>
          </a:xfrm>
          <a:prstGeom prst="rect">
            <a:avLst/>
          </a:prstGeom>
          <a:solidFill>
            <a:srgbClr val="14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6400800" cy="502920"/>
          </a:xfrm>
          <a:prstGeom prst="rect">
            <a:avLst/>
          </a:prstGeom>
          <a:noFill/>
        </p:spPr>
        <p:txBody>
          <a:bodyPr wrap="square">
            <a:spAutoFit/>
          </a:bodyPr>
          <a:lstStyle/>
          <a:p>
            <a:pPr algn="l"/>
            <a:r>
              <a:rPr sz="2200" b="1" i="0">
                <a:solidFill>
                  <a:srgbClr val="FFFFFF"/>
                </a:solidFill>
                <a:latin typeface="Calibri"/>
              </a:rPr>
              <a:t>Módulo 3  —  Alcoholemia Preventiva</a:t>
            </a:r>
          </a:p>
        </p:txBody>
      </p:sp>
      <p:sp>
        <p:nvSpPr>
          <p:cNvPr id="5" name="TextBox 4"/>
          <p:cNvSpPr txBox="1"/>
          <p:nvPr/>
        </p:nvSpPr>
        <p:spPr>
          <a:xfrm>
            <a:off x="228600" y="640080"/>
            <a:ext cx="8686800" cy="347472"/>
          </a:xfrm>
          <a:prstGeom prst="rect">
            <a:avLst/>
          </a:prstGeom>
          <a:noFill/>
        </p:spPr>
        <p:txBody>
          <a:bodyPr wrap="square">
            <a:spAutoFit/>
          </a:bodyPr>
          <a:lstStyle/>
          <a:p>
            <a:pPr algn="l"/>
            <a:r>
              <a:rPr sz="1200" b="1" i="0">
                <a:solidFill>
                  <a:srgbClr val="27AE60"/>
                </a:solidFill>
                <a:latin typeface="Calibri"/>
              </a:rPr>
              <a:t>Planes Mensuales  ·  Pay-per-use  ·  Dispositivo BLE Portable</a:t>
            </a:r>
          </a:p>
        </p:txBody>
      </p:sp>
      <p:sp>
        <p:nvSpPr>
          <p:cNvPr id="6" name="Rectangle 5"/>
          <p:cNvSpPr/>
          <p:nvPr/>
        </p:nvSpPr>
        <p:spPr>
          <a:xfrm>
            <a:off x="365760" y="1024128"/>
            <a:ext cx="8412480" cy="182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097280"/>
            <a:ext cx="5120640" cy="3200400"/>
          </a:xfrm>
          <a:prstGeom prst="rect">
            <a:avLst/>
          </a:prstGeom>
          <a:noFill/>
        </p:spPr>
        <p:txBody>
          <a:bodyPr wrap="square">
            <a:spAutoFit/>
          </a:bodyPr>
          <a:lstStyle/>
          <a:p>
            <a:pPr>
              <a:spcBef>
                <a:spcPts val="1000"/>
              </a:spcBef>
            </a:pPr>
            <a:r>
              <a:rPr sz="1400">
                <a:solidFill>
                  <a:srgbClr val="27AE60"/>
                </a:solidFill>
              </a:rPr>
              <a:t>✅  </a:t>
            </a:r>
            <a:r>
              <a:rPr b="1" sz="1400">
                <a:solidFill>
                  <a:srgbClr val="FFFFFF"/>
                </a:solidFill>
              </a:rPr>
              <a:t>Dispositivo BLE portable:</a:t>
            </a:r>
            <a:r>
              <a:rPr sz="1300">
                <a:solidFill>
                  <a:srgbClr val="BEC8D7"/>
                </a:solidFill>
              </a:rPr>
              <a:t> Bluetooth al smartphone, sin cables ni equipos fijos</a:t>
            </a:r>
          </a:p>
          <a:p>
            <a:pPr>
              <a:spcBef>
                <a:spcPts val="1000"/>
              </a:spcBef>
            </a:pPr>
            <a:r>
              <a:rPr sz="1400">
                <a:solidFill>
                  <a:srgbClr val="27AE60"/>
                </a:solidFill>
              </a:rPr>
              <a:t>✅  </a:t>
            </a:r>
            <a:r>
              <a:rPr b="1" sz="1400">
                <a:solidFill>
                  <a:srgbClr val="FFFFFF"/>
                </a:solidFill>
              </a:rPr>
              <a:t>Registro automático:</a:t>
            </a:r>
            <a:r>
              <a:rPr sz="1300">
                <a:solidFill>
                  <a:srgbClr val="BEC8D7"/>
                </a:solidFill>
              </a:rPr>
              <a:t> foto + timestamp + GPS + nombre del conductor</a:t>
            </a:r>
          </a:p>
          <a:p>
            <a:pPr>
              <a:spcBef>
                <a:spcPts val="1000"/>
              </a:spcBef>
            </a:pPr>
            <a:r>
              <a:rPr sz="1400">
                <a:solidFill>
                  <a:srgbClr val="27AE60"/>
                </a:solidFill>
              </a:rPr>
              <a:t>✅  </a:t>
            </a:r>
            <a:r>
              <a:rPr b="1" sz="1400">
                <a:solidFill>
                  <a:srgbClr val="FFFFFF"/>
                </a:solidFill>
              </a:rPr>
              <a:t>Bloqueo de turno:</a:t>
            </a:r>
            <a:r>
              <a:rPr sz="1300">
                <a:solidFill>
                  <a:srgbClr val="BEC8D7"/>
                </a:solidFill>
              </a:rPr>
              <a:t> si resultado positivo → alerta inmediata al coordinador</a:t>
            </a:r>
          </a:p>
          <a:p>
            <a:pPr>
              <a:spcBef>
                <a:spcPts val="1000"/>
              </a:spcBef>
            </a:pPr>
            <a:r>
              <a:rPr sz="1400">
                <a:solidFill>
                  <a:srgbClr val="27AE60"/>
                </a:solidFill>
              </a:rPr>
              <a:t>✅  </a:t>
            </a:r>
            <a:r>
              <a:rPr b="1" sz="1400">
                <a:solidFill>
                  <a:srgbClr val="FFFFFF"/>
                </a:solidFill>
              </a:rPr>
              <a:t>Planes con cupo:</a:t>
            </a:r>
            <a:r>
              <a:rPr sz="1300">
                <a:solidFill>
                  <a:srgbClr val="BEC8D7"/>
                </a:solidFill>
              </a:rPr>
              <a:t> sopladas incluidas + excedente $700–$900 c/u</a:t>
            </a:r>
          </a:p>
          <a:p>
            <a:pPr>
              <a:spcBef>
                <a:spcPts val="1000"/>
              </a:spcBef>
            </a:pPr>
            <a:r>
              <a:rPr sz="1400">
                <a:solidFill>
                  <a:srgbClr val="27AE60"/>
                </a:solidFill>
              </a:rPr>
              <a:t>✅  </a:t>
            </a:r>
            <a:r>
              <a:rPr b="1" sz="1400">
                <a:solidFill>
                  <a:srgbClr val="FFFFFF"/>
                </a:solidFill>
              </a:rPr>
              <a:t>Prepago:</a:t>
            </a:r>
            <a:r>
              <a:rPr sz="1300">
                <a:solidFill>
                  <a:srgbClr val="BEC8D7"/>
                </a:solidFill>
              </a:rPr>
              <a:t> 8% descuento adicional para operación variable</a:t>
            </a:r>
          </a:p>
        </p:txBody>
      </p:sp>
      <p:sp>
        <p:nvSpPr>
          <p:cNvPr id="8" name="TextBox 7"/>
          <p:cNvSpPr txBox="1"/>
          <p:nvPr/>
        </p:nvSpPr>
        <p:spPr>
          <a:xfrm>
            <a:off x="274320" y="4434840"/>
            <a:ext cx="4572000" cy="365760"/>
          </a:xfrm>
          <a:prstGeom prst="rect">
            <a:avLst/>
          </a:prstGeom>
          <a:noFill/>
        </p:spPr>
        <p:txBody>
          <a:bodyPr wrap="square">
            <a:spAutoFit/>
          </a:bodyPr>
          <a:lstStyle/>
          <a:p>
            <a:pPr algn="l"/>
            <a:r>
              <a:rPr sz="1300" b="1" i="0">
                <a:solidFill>
                  <a:srgbClr val="27AE60"/>
                </a:solidFill>
                <a:latin typeface="Calibri"/>
              </a:rPr>
              <a:t>desde COP $8,500 / conductor / mes</a:t>
            </a:r>
          </a:p>
        </p:txBody>
      </p:sp>
      <p:sp>
        <p:nvSpPr>
          <p:cNvPr id="9" name="TextBox 8"/>
          <p:cNvSpPr txBox="1"/>
          <p:nvPr/>
        </p:nvSpPr>
        <p:spPr>
          <a:xfrm>
            <a:off x="5394960" y="1097280"/>
            <a:ext cx="3566160" cy="3017520"/>
          </a:xfrm>
          <a:prstGeom prst="rect">
            <a:avLst/>
          </a:prstGeom>
          <a:noFill/>
        </p:spPr>
        <p:txBody>
          <a:bodyPr wrap="square">
            <a:spAutoFit/>
          </a:bodyPr>
          <a:lstStyle/>
          <a:p>
            <a:r>
              <a:rPr b="1" sz="900">
                <a:solidFill>
                  <a:srgbClr val="27AE60"/>
                </a:solidFill>
              </a:rPr>
              <a:t>🎨 GRÁFICO — Dispositivo Alcoholemia BLE:  </a:t>
            </a:r>
            <a:r>
              <a:rPr sz="900" i="1">
                <a:solidFill>
                  <a:srgbClr val="96C896"/>
                </a:solidFill>
              </a:rPr>
              <a:t>Foto producto: dispositivo BLE cilíndrico pequeño + smartphone mostrando resultado "0.00 g/L — APTO ✅". Fondo: cabina de camión. Iluminación profesional de estudio. Foto-realista de alta gama.</a:t>
            </a:r>
          </a:p>
        </p:txBody>
      </p:sp>
      <p:sp>
        <p:nvSpPr>
          <p:cNvPr id="10" name="Rectangle 9"/>
          <p:cNvSpPr/>
          <p:nvPr/>
        </p:nvSpPr>
        <p:spPr>
          <a:xfrm>
            <a:off x="5349240" y="1051560"/>
            <a:ext cx="3657600" cy="3108960"/>
          </a:xfrm>
          <a:prstGeom prst="rect">
            <a:avLst/>
          </a:prstGeom>
          <a:solidFill>
            <a:srgbClr val="1E3C28"/>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73152" cy="51480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9070848" cy="685800"/>
          </a:xfrm>
          <a:prstGeom prst="rect">
            <a:avLst/>
          </a:prstGeom>
          <a:solidFill>
            <a:srgbClr val="14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6400800" cy="502920"/>
          </a:xfrm>
          <a:prstGeom prst="rect">
            <a:avLst/>
          </a:prstGeom>
          <a:noFill/>
        </p:spPr>
        <p:txBody>
          <a:bodyPr wrap="square">
            <a:spAutoFit/>
          </a:bodyPr>
          <a:lstStyle/>
          <a:p>
            <a:pPr algn="l"/>
            <a:r>
              <a:rPr sz="2200" b="1" i="0">
                <a:solidFill>
                  <a:srgbClr val="FFFFFF"/>
                </a:solidFill>
                <a:latin typeface="Calibri"/>
              </a:rPr>
              <a:t>Módulo 4  —  PESV Inteligente</a:t>
            </a:r>
          </a:p>
        </p:txBody>
      </p:sp>
      <p:sp>
        <p:nvSpPr>
          <p:cNvPr id="5" name="TextBox 4"/>
          <p:cNvSpPr txBox="1"/>
          <p:nvPr/>
        </p:nvSpPr>
        <p:spPr>
          <a:xfrm>
            <a:off x="228600" y="640080"/>
            <a:ext cx="8686800" cy="347472"/>
          </a:xfrm>
          <a:prstGeom prst="rect">
            <a:avLst/>
          </a:prstGeom>
          <a:noFill/>
        </p:spPr>
        <p:txBody>
          <a:bodyPr wrap="square">
            <a:spAutoFit/>
          </a:bodyPr>
          <a:lstStyle/>
          <a:p>
            <a:pPr algn="l"/>
            <a:r>
              <a:rPr sz="1200" b="1" i="0">
                <a:solidFill>
                  <a:srgbClr val="27AE60"/>
                </a:solidFill>
                <a:latin typeface="Calibri"/>
              </a:rPr>
              <a:t>F1 + F2 Auto-calculados  ·  ISO 39001  ·  SST  ·  Dashboard Ejecutivo</a:t>
            </a:r>
          </a:p>
        </p:txBody>
      </p:sp>
      <p:sp>
        <p:nvSpPr>
          <p:cNvPr id="6" name="Rectangle 5"/>
          <p:cNvSpPr/>
          <p:nvPr/>
        </p:nvSpPr>
        <p:spPr>
          <a:xfrm>
            <a:off x="365760" y="1024128"/>
            <a:ext cx="8412480" cy="182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097280"/>
            <a:ext cx="5120640" cy="3200400"/>
          </a:xfrm>
          <a:prstGeom prst="rect">
            <a:avLst/>
          </a:prstGeom>
          <a:noFill/>
        </p:spPr>
        <p:txBody>
          <a:bodyPr wrap="square">
            <a:spAutoFit/>
          </a:bodyPr>
          <a:lstStyle/>
          <a:p>
            <a:pPr>
              <a:spcBef>
                <a:spcPts val="900"/>
              </a:spcBef>
            </a:pPr>
            <a:r>
              <a:rPr sz="1300">
                <a:solidFill>
                  <a:srgbClr val="27AE60"/>
                </a:solidFill>
              </a:rPr>
              <a:t>✅  </a:t>
            </a:r>
            <a:r>
              <a:rPr b="1" sz="1300">
                <a:solidFill>
                  <a:srgbClr val="FFFFFF"/>
                </a:solidFill>
              </a:rPr>
              <a:t>F2 mensual AUTO-CALCULADO:</a:t>
            </a:r>
            <a:r>
              <a:rPr sz="1200">
                <a:solidFill>
                  <a:srgbClr val="BEC8D7"/>
                </a:solidFill>
              </a:rPr>
              <a:t> alistamientos + mantenimientos + hábitos se consolidan solos</a:t>
            </a:r>
          </a:p>
          <a:p>
            <a:pPr>
              <a:spcBef>
                <a:spcPts val="900"/>
              </a:spcBef>
            </a:pPr>
            <a:r>
              <a:rPr sz="1300">
                <a:solidFill>
                  <a:srgbClr val="27AE60"/>
                </a:solidFill>
              </a:rPr>
              <a:t>✅  </a:t>
            </a:r>
            <a:r>
              <a:rPr b="1" sz="1300">
                <a:solidFill>
                  <a:srgbClr val="FFFFFF"/>
                </a:solidFill>
              </a:rPr>
              <a:t>F1 anual asistido:</a:t>
            </a:r>
            <a:r>
              <a:rPr sz="1200">
                <a:solidFill>
                  <a:srgbClr val="BEC8D7"/>
                </a:solidFill>
              </a:rPr>
              <a:t> cuestionario guiado con autocompletado desde datos del sistema</a:t>
            </a:r>
          </a:p>
          <a:p>
            <a:pPr>
              <a:spcBef>
                <a:spcPts val="900"/>
              </a:spcBef>
            </a:pPr>
            <a:r>
              <a:rPr sz="1300">
                <a:solidFill>
                  <a:srgbClr val="27AE60"/>
                </a:solidFill>
              </a:rPr>
              <a:t>✅  </a:t>
            </a:r>
            <a:r>
              <a:rPr b="1" sz="1300">
                <a:solidFill>
                  <a:srgbClr val="FFFFFF"/>
                </a:solidFill>
              </a:rPr>
              <a:t>Dashboard semáforo PESV:</a:t>
            </a:r>
            <a:r>
              <a:rPr sz="1200">
                <a:solidFill>
                  <a:srgbClr val="BEC8D7"/>
                </a:solidFill>
              </a:rPr>
              <a:t> KPIs en tiempo real, 12 meses de tendencias</a:t>
            </a:r>
          </a:p>
          <a:p>
            <a:pPr>
              <a:spcBef>
                <a:spcPts val="900"/>
              </a:spcBef>
            </a:pPr>
            <a:r>
              <a:rPr sz="1300">
                <a:solidFill>
                  <a:srgbClr val="27AE60"/>
                </a:solidFill>
              </a:rPr>
              <a:t>✅  </a:t>
            </a:r>
            <a:r>
              <a:rPr b="1" sz="1300">
                <a:solidFill>
                  <a:srgbClr val="FFFFFF"/>
                </a:solidFill>
              </a:rPr>
              <a:t>Incidentes + FURAT:</a:t>
            </a:r>
            <a:r>
              <a:rPr sz="1200">
                <a:solidFill>
                  <a:srgbClr val="BEC8D7"/>
                </a:solidFill>
              </a:rPr>
              <a:t> registro guiado, acta automática para ARL</a:t>
            </a:r>
          </a:p>
          <a:p>
            <a:pPr>
              <a:spcBef>
                <a:spcPts val="900"/>
              </a:spcBef>
            </a:pPr>
            <a:r>
              <a:rPr sz="1300">
                <a:solidFill>
                  <a:srgbClr val="27AE60"/>
                </a:solidFill>
              </a:rPr>
              <a:t>✅  </a:t>
            </a:r>
            <a:r>
              <a:rPr b="1" sz="1300">
                <a:solidFill>
                  <a:srgbClr val="FFFFFF"/>
                </a:solidFill>
              </a:rPr>
              <a:t>Capacitaciones:</a:t>
            </a:r>
            <a:r>
              <a:rPr sz="1200">
                <a:solidFill>
                  <a:srgbClr val="BEC8D7"/>
                </a:solidFill>
              </a:rPr>
              <a:t> asistencia digital + evidencia PDF vinculada al indicador PESV</a:t>
            </a:r>
          </a:p>
          <a:p>
            <a:pPr>
              <a:spcBef>
                <a:spcPts val="900"/>
              </a:spcBef>
            </a:pPr>
            <a:r>
              <a:rPr sz="1300">
                <a:solidFill>
                  <a:srgbClr val="27AE60"/>
                </a:solidFill>
              </a:rPr>
              <a:t>✅  </a:t>
            </a:r>
            <a:r>
              <a:rPr b="1" sz="1300">
                <a:solidFill>
                  <a:srgbClr val="FFFFFF"/>
                </a:solidFill>
              </a:rPr>
              <a:t>Exportación SST:</a:t>
            </a:r>
            <a:r>
              <a:rPr sz="1200">
                <a:solidFill>
                  <a:srgbClr val="BEC8D7"/>
                </a:solidFill>
              </a:rPr>
              <a:t> reporte para ARL + evidencias para inspecciones Min. Trabajo</a:t>
            </a:r>
          </a:p>
        </p:txBody>
      </p:sp>
      <p:sp>
        <p:nvSpPr>
          <p:cNvPr id="8" name="TextBox 7"/>
          <p:cNvSpPr txBox="1"/>
          <p:nvPr/>
        </p:nvSpPr>
        <p:spPr>
          <a:xfrm>
            <a:off x="274320" y="4434840"/>
            <a:ext cx="4572000" cy="365760"/>
          </a:xfrm>
          <a:prstGeom prst="rect">
            <a:avLst/>
          </a:prstGeom>
          <a:noFill/>
        </p:spPr>
        <p:txBody>
          <a:bodyPr wrap="square">
            <a:spAutoFit/>
          </a:bodyPr>
          <a:lstStyle/>
          <a:p>
            <a:pPr algn="l"/>
            <a:r>
              <a:rPr sz="1300" b="1" i="0">
                <a:solidFill>
                  <a:srgbClr val="27AE60"/>
                </a:solidFill>
                <a:latin typeface="Calibri"/>
              </a:rPr>
              <a:t>desde COP $150,000 / empresa / mes</a:t>
            </a:r>
          </a:p>
        </p:txBody>
      </p:sp>
      <p:sp>
        <p:nvSpPr>
          <p:cNvPr id="9" name="TextBox 8"/>
          <p:cNvSpPr txBox="1"/>
          <p:nvPr/>
        </p:nvSpPr>
        <p:spPr>
          <a:xfrm>
            <a:off x="5394960" y="1097280"/>
            <a:ext cx="3566160" cy="3017520"/>
          </a:xfrm>
          <a:prstGeom prst="rect">
            <a:avLst/>
          </a:prstGeom>
          <a:noFill/>
        </p:spPr>
        <p:txBody>
          <a:bodyPr wrap="square">
            <a:spAutoFit/>
          </a:bodyPr>
          <a:lstStyle/>
          <a:p>
            <a:r>
              <a:rPr b="1" sz="900">
                <a:solidFill>
                  <a:srgbClr val="27AE60"/>
                </a:solidFill>
              </a:rPr>
              <a:t>🎨 GRÁFICO — Dashboard PESV:  </a:t>
            </a:r>
            <a:r>
              <a:rPr sz="900" i="1">
                <a:solidFill>
                  <a:srgbClr val="96C896"/>
                </a:solidFill>
              </a:rPr>
              <a:t>Dashboard web dark mode azul marino. Semáforo PESV con 6 líneas de acción (verde/amarillo/rojo). Gráfica de barras verdes "Alistamientos por semana". KPIs: conductores activos, excesos del mes, incidentes. Fintech dashboard, tipografía sans-serif moderna.</a:t>
            </a:r>
          </a:p>
        </p:txBody>
      </p:sp>
      <p:sp>
        <p:nvSpPr>
          <p:cNvPr id="10" name="Rectangle 9"/>
          <p:cNvSpPr/>
          <p:nvPr/>
        </p:nvSpPr>
        <p:spPr>
          <a:xfrm>
            <a:off x="5349240" y="1051560"/>
            <a:ext cx="3657600" cy="3108960"/>
          </a:xfrm>
          <a:prstGeom prst="rect">
            <a:avLst/>
          </a:prstGeom>
          <a:solidFill>
            <a:srgbClr val="1E3C28"/>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73152" cy="51480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686800" cy="502920"/>
          </a:xfrm>
          <a:prstGeom prst="rect">
            <a:avLst/>
          </a:prstGeom>
          <a:noFill/>
        </p:spPr>
        <p:txBody>
          <a:bodyPr wrap="square">
            <a:spAutoFit/>
          </a:bodyPr>
          <a:lstStyle/>
          <a:p>
            <a:pPr algn="l"/>
            <a:r>
              <a:rPr sz="2800" b="1" i="0">
                <a:solidFill>
                  <a:srgbClr val="FFFFFF"/>
                </a:solidFill>
                <a:latin typeface="Calibri"/>
              </a:rPr>
              <a:t>Retorno de Inversión</a:t>
            </a:r>
          </a:p>
        </p:txBody>
      </p:sp>
      <p:sp>
        <p:nvSpPr>
          <p:cNvPr id="4" name="Rectangle 3"/>
          <p:cNvSpPr/>
          <p:nvPr/>
        </p:nvSpPr>
        <p:spPr>
          <a:xfrm>
            <a:off x="274320" y="713232"/>
            <a:ext cx="8595360" cy="1828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914400"/>
            <a:ext cx="1737360" cy="1463040"/>
          </a:xfrm>
          <a:prstGeom prst="rect">
            <a:avLst/>
          </a:prstGeom>
          <a:solidFill>
            <a:srgbClr val="E66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960120"/>
            <a:ext cx="1645920" cy="594360"/>
          </a:xfrm>
          <a:prstGeom prst="rect">
            <a:avLst/>
          </a:prstGeom>
          <a:noFill/>
        </p:spPr>
        <p:txBody>
          <a:bodyPr wrap="square">
            <a:spAutoFit/>
          </a:bodyPr>
          <a:lstStyle/>
          <a:p>
            <a:pPr algn="ctr"/>
            <a:r>
              <a:rPr sz="1300" b="1" i="0">
                <a:solidFill>
                  <a:srgbClr val="FFFFFF"/>
                </a:solidFill>
                <a:latin typeface="Calibri"/>
              </a:rPr>
              <a:t>Accidente
Leve</a:t>
            </a:r>
          </a:p>
        </p:txBody>
      </p:sp>
      <p:sp>
        <p:nvSpPr>
          <p:cNvPr id="7" name="TextBox 6"/>
          <p:cNvSpPr txBox="1"/>
          <p:nvPr/>
        </p:nvSpPr>
        <p:spPr>
          <a:xfrm>
            <a:off x="320040" y="1554480"/>
            <a:ext cx="1645920" cy="457200"/>
          </a:xfrm>
          <a:prstGeom prst="rect">
            <a:avLst/>
          </a:prstGeom>
          <a:noFill/>
        </p:spPr>
        <p:txBody>
          <a:bodyPr wrap="square">
            <a:spAutoFit/>
          </a:bodyPr>
          <a:lstStyle/>
          <a:p>
            <a:pPr algn="ctr"/>
            <a:r>
              <a:rPr sz="1400" b="1" i="0">
                <a:solidFill>
                  <a:srgbClr val="FFFFFF"/>
                </a:solidFill>
                <a:latin typeface="Calibri"/>
              </a:rPr>
              <a:t>$3M – $8M</a:t>
            </a:r>
          </a:p>
        </p:txBody>
      </p:sp>
      <p:sp>
        <p:nvSpPr>
          <p:cNvPr id="8" name="Rectangle 7"/>
          <p:cNvSpPr/>
          <p:nvPr/>
        </p:nvSpPr>
        <p:spPr>
          <a:xfrm>
            <a:off x="2194560" y="914400"/>
            <a:ext cx="1737360" cy="1463040"/>
          </a:xfrm>
          <a:prstGeom prst="rect">
            <a:avLst/>
          </a:prstGeom>
          <a:solidFill>
            <a:srgbClr val="C83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40279" y="960120"/>
            <a:ext cx="1645920" cy="594360"/>
          </a:xfrm>
          <a:prstGeom prst="rect">
            <a:avLst/>
          </a:prstGeom>
          <a:noFill/>
        </p:spPr>
        <p:txBody>
          <a:bodyPr wrap="square">
            <a:spAutoFit/>
          </a:bodyPr>
          <a:lstStyle/>
          <a:p>
            <a:pPr algn="ctr"/>
            <a:r>
              <a:rPr sz="1300" b="1" i="0">
                <a:solidFill>
                  <a:srgbClr val="FFFFFF"/>
                </a:solidFill>
                <a:latin typeface="Calibri"/>
              </a:rPr>
              <a:t>Accidente
Grave</a:t>
            </a:r>
          </a:p>
        </p:txBody>
      </p:sp>
      <p:sp>
        <p:nvSpPr>
          <p:cNvPr id="10" name="TextBox 9"/>
          <p:cNvSpPr txBox="1"/>
          <p:nvPr/>
        </p:nvSpPr>
        <p:spPr>
          <a:xfrm>
            <a:off x="2240279" y="1554480"/>
            <a:ext cx="1645920" cy="457200"/>
          </a:xfrm>
          <a:prstGeom prst="rect">
            <a:avLst/>
          </a:prstGeom>
          <a:noFill/>
        </p:spPr>
        <p:txBody>
          <a:bodyPr wrap="square">
            <a:spAutoFit/>
          </a:bodyPr>
          <a:lstStyle/>
          <a:p>
            <a:pPr algn="ctr"/>
            <a:r>
              <a:rPr sz="1400" b="1" i="0">
                <a:solidFill>
                  <a:srgbClr val="FFFFFF"/>
                </a:solidFill>
                <a:latin typeface="Calibri"/>
              </a:rPr>
              <a:t>$15M – $80M</a:t>
            </a:r>
          </a:p>
        </p:txBody>
      </p:sp>
      <p:sp>
        <p:nvSpPr>
          <p:cNvPr id="11" name="Rectangle 10"/>
          <p:cNvSpPr/>
          <p:nvPr/>
        </p:nvSpPr>
        <p:spPr>
          <a:xfrm>
            <a:off x="4114800" y="914400"/>
            <a:ext cx="1737360" cy="1463040"/>
          </a:xfrm>
          <a:prstGeom prst="rect">
            <a:avLst/>
          </a:prstGeom>
          <a:solidFill>
            <a:srgbClr val="A0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60520" y="960120"/>
            <a:ext cx="1645920" cy="594360"/>
          </a:xfrm>
          <a:prstGeom prst="rect">
            <a:avLst/>
          </a:prstGeom>
          <a:noFill/>
        </p:spPr>
        <p:txBody>
          <a:bodyPr wrap="square">
            <a:spAutoFit/>
          </a:bodyPr>
          <a:lstStyle/>
          <a:p>
            <a:pPr algn="ctr"/>
            <a:r>
              <a:rPr sz="1300" b="1" i="0">
                <a:solidFill>
                  <a:srgbClr val="FFFFFF"/>
                </a:solidFill>
                <a:latin typeface="Calibri"/>
              </a:rPr>
              <a:t>Accidente
Fatal</a:t>
            </a:r>
          </a:p>
        </p:txBody>
      </p:sp>
      <p:sp>
        <p:nvSpPr>
          <p:cNvPr id="13" name="TextBox 12"/>
          <p:cNvSpPr txBox="1"/>
          <p:nvPr/>
        </p:nvSpPr>
        <p:spPr>
          <a:xfrm>
            <a:off x="4160520" y="1554480"/>
            <a:ext cx="1645920" cy="457200"/>
          </a:xfrm>
          <a:prstGeom prst="rect">
            <a:avLst/>
          </a:prstGeom>
          <a:noFill/>
        </p:spPr>
        <p:txBody>
          <a:bodyPr wrap="square">
            <a:spAutoFit/>
          </a:bodyPr>
          <a:lstStyle/>
          <a:p>
            <a:pPr algn="ctr"/>
            <a:r>
              <a:rPr sz="1400" b="1" i="0">
                <a:solidFill>
                  <a:srgbClr val="FFFFFF"/>
                </a:solidFill>
                <a:latin typeface="Calibri"/>
              </a:rPr>
              <a:t>$150M+</a:t>
            </a:r>
          </a:p>
        </p:txBody>
      </p:sp>
      <p:sp>
        <p:nvSpPr>
          <p:cNvPr id="14" name="TextBox 13"/>
          <p:cNvSpPr txBox="1"/>
          <p:nvPr/>
        </p:nvSpPr>
        <p:spPr>
          <a:xfrm>
            <a:off x="5989320" y="1097280"/>
            <a:ext cx="640080" cy="731520"/>
          </a:xfrm>
          <a:prstGeom prst="rect">
            <a:avLst/>
          </a:prstGeom>
          <a:noFill/>
        </p:spPr>
        <p:txBody>
          <a:bodyPr wrap="square">
            <a:spAutoFit/>
          </a:bodyPr>
          <a:lstStyle/>
          <a:p>
            <a:pPr algn="ctr"/>
            <a:r>
              <a:rPr sz="2200" b="1" i="0">
                <a:solidFill>
                  <a:srgbClr val="27AE60"/>
                </a:solidFill>
                <a:latin typeface="Calibri"/>
              </a:rPr>
              <a:t>VS.</a:t>
            </a:r>
          </a:p>
        </p:txBody>
      </p:sp>
      <p:sp>
        <p:nvSpPr>
          <p:cNvPr id="15" name="Rectangle 14"/>
          <p:cNvSpPr/>
          <p:nvPr/>
        </p:nvSpPr>
        <p:spPr>
          <a:xfrm>
            <a:off x="6583680" y="914400"/>
            <a:ext cx="2286000" cy="1463040"/>
          </a:xfrm>
          <a:prstGeom prst="rect">
            <a:avLst/>
          </a:prstGeom>
          <a:solidFill>
            <a:srgbClr val="1650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960120"/>
            <a:ext cx="2194560" cy="594360"/>
          </a:xfrm>
          <a:prstGeom prst="rect">
            <a:avLst/>
          </a:prstGeom>
          <a:noFill/>
        </p:spPr>
        <p:txBody>
          <a:bodyPr wrap="square">
            <a:spAutoFit/>
          </a:bodyPr>
          <a:lstStyle/>
          <a:p>
            <a:pPr algn="ctr"/>
            <a:r>
              <a:rPr sz="1200" b="1" i="0">
                <a:solidFill>
                  <a:srgbClr val="FFFFFF"/>
                </a:solidFill>
                <a:latin typeface="Calibri"/>
              </a:rPr>
              <a:t>ProtegeMe FULL
20 vehículos</a:t>
            </a:r>
          </a:p>
        </p:txBody>
      </p:sp>
      <p:sp>
        <p:nvSpPr>
          <p:cNvPr id="17" name="TextBox 16"/>
          <p:cNvSpPr txBox="1"/>
          <p:nvPr/>
        </p:nvSpPr>
        <p:spPr>
          <a:xfrm>
            <a:off x="6629400" y="1508760"/>
            <a:ext cx="2194560" cy="457200"/>
          </a:xfrm>
          <a:prstGeom prst="rect">
            <a:avLst/>
          </a:prstGeom>
          <a:noFill/>
        </p:spPr>
        <p:txBody>
          <a:bodyPr wrap="square">
            <a:spAutoFit/>
          </a:bodyPr>
          <a:lstStyle/>
          <a:p>
            <a:pPr algn="ctr"/>
            <a:r>
              <a:rPr sz="1300" b="1" i="0">
                <a:solidFill>
                  <a:srgbClr val="27AE60"/>
                </a:solidFill>
                <a:latin typeface="Calibri"/>
              </a:rPr>
              <a:t>$1,048,000/mes</a:t>
            </a:r>
          </a:p>
        </p:txBody>
      </p:sp>
      <p:sp>
        <p:nvSpPr>
          <p:cNvPr id="18" name="Rectangle 17"/>
          <p:cNvSpPr/>
          <p:nvPr/>
        </p:nvSpPr>
        <p:spPr>
          <a:xfrm>
            <a:off x="274320" y="2514600"/>
            <a:ext cx="8595360" cy="182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2606040"/>
            <a:ext cx="8595360" cy="411480"/>
          </a:xfrm>
          <a:prstGeom prst="rect">
            <a:avLst/>
          </a:prstGeom>
          <a:noFill/>
        </p:spPr>
        <p:txBody>
          <a:bodyPr wrap="square">
            <a:spAutoFit/>
          </a:bodyPr>
          <a:lstStyle/>
          <a:p>
            <a:pPr algn="ctr"/>
            <a:r>
              <a:rPr sz="1500" b="1" i="0">
                <a:solidFill>
                  <a:srgbClr val="27AE60"/>
                </a:solidFill>
                <a:latin typeface="Calibri"/>
              </a:rPr>
              <a:t>→  1 accidente leve evitado  =  5 meses de ProtegeMe pagados</a:t>
            </a:r>
          </a:p>
        </p:txBody>
      </p:sp>
      <p:sp>
        <p:nvSpPr>
          <p:cNvPr id="20" name="TextBox 19"/>
          <p:cNvSpPr txBox="1"/>
          <p:nvPr/>
        </p:nvSpPr>
        <p:spPr>
          <a:xfrm>
            <a:off x="274320" y="3017520"/>
            <a:ext cx="8595360" cy="411480"/>
          </a:xfrm>
          <a:prstGeom prst="rect">
            <a:avLst/>
          </a:prstGeom>
          <a:noFill/>
        </p:spPr>
        <p:txBody>
          <a:bodyPr wrap="square">
            <a:spAutoFit/>
          </a:bodyPr>
          <a:lstStyle/>
          <a:p>
            <a:pPr algn="ctr"/>
            <a:r>
              <a:rPr sz="1500" b="1" i="0">
                <a:solidFill>
                  <a:srgbClr val="FFFFFF"/>
                </a:solidFill>
                <a:latin typeface="Calibri"/>
              </a:rPr>
              <a:t>→  1 accidente grave evitado  =  3 años de ProtegeMe pagados</a:t>
            </a:r>
          </a:p>
        </p:txBody>
      </p:sp>
      <p:sp>
        <p:nvSpPr>
          <p:cNvPr id="21" name="TextBox 20"/>
          <p:cNvSpPr txBox="1"/>
          <p:nvPr/>
        </p:nvSpPr>
        <p:spPr>
          <a:xfrm>
            <a:off x="274320" y="3520440"/>
            <a:ext cx="8595360" cy="1371600"/>
          </a:xfrm>
          <a:prstGeom prst="rect">
            <a:avLst/>
          </a:prstGeom>
          <a:noFill/>
        </p:spPr>
        <p:txBody>
          <a:bodyPr wrap="square">
            <a:spAutoFit/>
          </a:bodyPr>
          <a:lstStyle/>
          <a:p>
            <a:r>
              <a:rPr sz="1100">
                <a:solidFill>
                  <a:srgbClr val="27AE60"/>
                </a:solidFill>
              </a:rPr>
              <a:t>✅  </a:t>
            </a:r>
            <a:r>
              <a:rPr sz="1100">
                <a:solidFill>
                  <a:srgbClr val="BED2DC"/>
                </a:solidFill>
              </a:rPr>
              <a:t>Hasta 50% reducción en frecuencia de accidentes</a:t>
            </a:r>
          </a:p>
          <a:p>
            <a:r>
              <a:rPr sz="1100">
                <a:solidFill>
                  <a:srgbClr val="27AE60"/>
                </a:solidFill>
              </a:rPr>
              <a:t>✅  </a:t>
            </a:r>
            <a:r>
              <a:rPr sz="1100">
                <a:solidFill>
                  <a:srgbClr val="BED2DC"/>
                </a:solidFill>
              </a:rPr>
              <a:t>Eliminación de multas PESV (hasta $20M por incidente)</a:t>
            </a:r>
          </a:p>
          <a:p>
            <a:r>
              <a:rPr sz="1100">
                <a:solidFill>
                  <a:srgbClr val="27AE60"/>
                </a:solidFill>
              </a:rPr>
              <a:t>✅  </a:t>
            </a:r>
            <a:r>
              <a:rPr sz="1100">
                <a:solidFill>
                  <a:srgbClr val="BED2DC"/>
                </a:solidFill>
              </a:rPr>
              <a:t>Ahorro 25–30 h/mes del coordinador PESV</a:t>
            </a:r>
          </a:p>
          <a:p>
            <a:r>
              <a:rPr sz="1100">
                <a:solidFill>
                  <a:srgbClr val="27AE60"/>
                </a:solidFill>
              </a:rPr>
              <a:t>✅  </a:t>
            </a:r>
            <a:r>
              <a:rPr sz="1100">
                <a:solidFill>
                  <a:srgbClr val="BED2DC"/>
                </a:solidFill>
              </a:rPr>
              <a:t>Base lista para certificación ISO 39001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73152" cy="51480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686800" cy="502920"/>
          </a:xfrm>
          <a:prstGeom prst="rect">
            <a:avLst/>
          </a:prstGeom>
          <a:noFill/>
        </p:spPr>
        <p:txBody>
          <a:bodyPr wrap="square">
            <a:spAutoFit/>
          </a:bodyPr>
          <a:lstStyle/>
          <a:p>
            <a:pPr algn="l"/>
            <a:r>
              <a:rPr sz="2800" b="1" i="0">
                <a:solidFill>
                  <a:srgbClr val="FFFFFF"/>
                </a:solidFill>
                <a:latin typeface="Calibri"/>
              </a:rPr>
              <a:t>Precios y Paquetes</a:t>
            </a:r>
          </a:p>
        </p:txBody>
      </p:sp>
      <p:sp>
        <p:nvSpPr>
          <p:cNvPr id="4" name="Rectangle 3"/>
          <p:cNvSpPr/>
          <p:nvPr/>
        </p:nvSpPr>
        <p:spPr>
          <a:xfrm>
            <a:off x="365760" y="713232"/>
            <a:ext cx="8412480" cy="182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77240"/>
            <a:ext cx="8595360" cy="274320"/>
          </a:xfrm>
          <a:prstGeom prst="rect">
            <a:avLst/>
          </a:prstGeom>
          <a:noFill/>
        </p:spPr>
        <p:txBody>
          <a:bodyPr wrap="square">
            <a:spAutoFit/>
          </a:bodyPr>
          <a:lstStyle/>
          <a:p>
            <a:pPr algn="l"/>
            <a:r>
              <a:rPr sz="1100" b="0" i="1">
                <a:solidFill>
                  <a:srgbClr val="969696"/>
                </a:solidFill>
                <a:latin typeface="Calibri"/>
              </a:rPr>
              <a:t>Referencia: empresa de 20 vehículos / 20 conductores</a:t>
            </a:r>
          </a:p>
        </p:txBody>
      </p:sp>
      <p:sp>
        <p:nvSpPr>
          <p:cNvPr id="6" name="Rectangle 5"/>
          <p:cNvSpPr/>
          <p:nvPr/>
        </p:nvSpPr>
        <p:spPr>
          <a:xfrm>
            <a:off x="228600" y="1143000"/>
            <a:ext cx="2011680" cy="2468880"/>
          </a:xfrm>
          <a:prstGeom prst="rect">
            <a:avLst/>
          </a:prstGeom>
          <a:solidFill>
            <a:srgbClr val="14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188720"/>
            <a:ext cx="1920240" cy="365760"/>
          </a:xfrm>
          <a:prstGeom prst="rect">
            <a:avLst/>
          </a:prstGeom>
          <a:noFill/>
        </p:spPr>
        <p:txBody>
          <a:bodyPr wrap="square">
            <a:spAutoFit/>
          </a:bodyPr>
          <a:lstStyle/>
          <a:p>
            <a:pPr algn="ctr"/>
            <a:r>
              <a:rPr sz="1400" b="1" i="0">
                <a:solidFill>
                  <a:srgbClr val="27AE60"/>
                </a:solidFill>
                <a:latin typeface="Calibri"/>
              </a:rPr>
              <a:t>SICOV</a:t>
            </a:r>
          </a:p>
        </p:txBody>
      </p:sp>
      <p:sp>
        <p:nvSpPr>
          <p:cNvPr id="8" name="TextBox 7"/>
          <p:cNvSpPr txBox="1"/>
          <p:nvPr/>
        </p:nvSpPr>
        <p:spPr>
          <a:xfrm>
            <a:off x="274320" y="1536192"/>
            <a:ext cx="1920240" cy="594360"/>
          </a:xfrm>
          <a:prstGeom prst="rect">
            <a:avLst/>
          </a:prstGeom>
          <a:noFill/>
        </p:spPr>
        <p:txBody>
          <a:bodyPr wrap="square">
            <a:spAutoFit/>
          </a:bodyPr>
          <a:lstStyle/>
          <a:p>
            <a:pPr algn="ctr"/>
            <a:r>
              <a:rPr sz="1300" b="1" i="0">
                <a:solidFill>
                  <a:srgbClr val="FFFFFF"/>
                </a:solidFill>
                <a:latin typeface="Calibri"/>
              </a:rPr>
              <a:t>$14,000
/veh/mes</a:t>
            </a:r>
          </a:p>
        </p:txBody>
      </p:sp>
      <p:sp>
        <p:nvSpPr>
          <p:cNvPr id="9" name="TextBox 8"/>
          <p:cNvSpPr txBox="1"/>
          <p:nvPr/>
        </p:nvSpPr>
        <p:spPr>
          <a:xfrm>
            <a:off x="301752" y="2148840"/>
            <a:ext cx="1874519" cy="1280160"/>
          </a:xfrm>
          <a:prstGeom prst="rect">
            <a:avLst/>
          </a:prstGeom>
          <a:noFill/>
        </p:spPr>
        <p:txBody>
          <a:bodyPr wrap="square">
            <a:spAutoFit/>
          </a:bodyPr>
          <a:lstStyle/>
          <a:p>
            <a:r>
              <a:rPr sz="1050">
                <a:solidFill>
                  <a:srgbClr val="B4C8DC"/>
                </a:solidFill>
              </a:rPr>
              <a:t>· Alistamiento digital</a:t>
            </a:r>
          </a:p>
          <a:p>
            <a:r>
              <a:rPr sz="1050">
                <a:solidFill>
                  <a:srgbClr val="B4C8DC"/>
                </a:solidFill>
              </a:rPr>
              <a:t>· SICOV automático</a:t>
            </a:r>
          </a:p>
          <a:p>
            <a:r>
              <a:rPr sz="1050">
                <a:solidFill>
                  <a:srgbClr val="B4C8DC"/>
                </a:solidFill>
              </a:rPr>
              <a:t>· Dashboard PESV</a:t>
            </a:r>
          </a:p>
        </p:txBody>
      </p:sp>
      <p:sp>
        <p:nvSpPr>
          <p:cNvPr id="10" name="Rectangle 9"/>
          <p:cNvSpPr/>
          <p:nvPr/>
        </p:nvSpPr>
        <p:spPr>
          <a:xfrm>
            <a:off x="2441448" y="1143000"/>
            <a:ext cx="2011680" cy="2468880"/>
          </a:xfrm>
          <a:prstGeom prst="rect">
            <a:avLst/>
          </a:prstGeom>
          <a:solidFill>
            <a:srgbClr val="14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87168" y="1188720"/>
            <a:ext cx="1920240" cy="365760"/>
          </a:xfrm>
          <a:prstGeom prst="rect">
            <a:avLst/>
          </a:prstGeom>
          <a:noFill/>
        </p:spPr>
        <p:txBody>
          <a:bodyPr wrap="square">
            <a:spAutoFit/>
          </a:bodyPr>
          <a:lstStyle/>
          <a:p>
            <a:pPr algn="ctr"/>
            <a:r>
              <a:rPr sz="1400" b="1" i="0">
                <a:solidFill>
                  <a:srgbClr val="27AE60"/>
                </a:solidFill>
                <a:latin typeface="Calibri"/>
              </a:rPr>
              <a:t>Hábitos</a:t>
            </a:r>
          </a:p>
        </p:txBody>
      </p:sp>
      <p:sp>
        <p:nvSpPr>
          <p:cNvPr id="12" name="TextBox 11"/>
          <p:cNvSpPr txBox="1"/>
          <p:nvPr/>
        </p:nvSpPr>
        <p:spPr>
          <a:xfrm>
            <a:off x="2487168" y="1536192"/>
            <a:ext cx="1920240" cy="594360"/>
          </a:xfrm>
          <a:prstGeom prst="rect">
            <a:avLst/>
          </a:prstGeom>
          <a:noFill/>
        </p:spPr>
        <p:txBody>
          <a:bodyPr wrap="square">
            <a:spAutoFit/>
          </a:bodyPr>
          <a:lstStyle/>
          <a:p>
            <a:pPr algn="ctr"/>
            <a:r>
              <a:rPr sz="1300" b="1" i="0">
                <a:solidFill>
                  <a:srgbClr val="FFFFFF"/>
                </a:solidFill>
                <a:latin typeface="Calibri"/>
              </a:rPr>
              <a:t>$24,000
/cond/mes</a:t>
            </a:r>
          </a:p>
        </p:txBody>
      </p:sp>
      <p:sp>
        <p:nvSpPr>
          <p:cNvPr id="13" name="TextBox 12"/>
          <p:cNvSpPr txBox="1"/>
          <p:nvPr/>
        </p:nvSpPr>
        <p:spPr>
          <a:xfrm>
            <a:off x="2514600" y="2148840"/>
            <a:ext cx="1874519" cy="1280160"/>
          </a:xfrm>
          <a:prstGeom prst="rect">
            <a:avLst/>
          </a:prstGeom>
          <a:noFill/>
        </p:spPr>
        <p:txBody>
          <a:bodyPr wrap="square">
            <a:spAutoFit/>
          </a:bodyPr>
          <a:lstStyle/>
          <a:p>
            <a:r>
              <a:rPr sz="1050">
                <a:solidFill>
                  <a:srgbClr val="B4C8DC"/>
                </a:solidFill>
              </a:rPr>
              <a:t>· Score conductual</a:t>
            </a:r>
          </a:p>
          <a:p>
            <a:r>
              <a:rPr sz="1050">
                <a:solidFill>
                  <a:srgbClr val="B4C8DC"/>
                </a:solidFill>
              </a:rPr>
              <a:t>· Alertas velocidad</a:t>
            </a:r>
          </a:p>
          <a:p>
            <a:r>
              <a:rPr sz="1050">
                <a:solidFill>
                  <a:srgbClr val="B4C8DC"/>
                </a:solidFill>
              </a:rPr>
              <a:t>· Monitor flota</a:t>
            </a:r>
          </a:p>
        </p:txBody>
      </p:sp>
      <p:sp>
        <p:nvSpPr>
          <p:cNvPr id="14" name="Rectangle 13"/>
          <p:cNvSpPr/>
          <p:nvPr/>
        </p:nvSpPr>
        <p:spPr>
          <a:xfrm>
            <a:off x="4654296" y="1143000"/>
            <a:ext cx="2011680" cy="2468880"/>
          </a:xfrm>
          <a:prstGeom prst="rect">
            <a:avLst/>
          </a:prstGeom>
          <a:solidFill>
            <a:srgbClr val="14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00016" y="1188720"/>
            <a:ext cx="1920240" cy="365760"/>
          </a:xfrm>
          <a:prstGeom prst="rect">
            <a:avLst/>
          </a:prstGeom>
          <a:noFill/>
        </p:spPr>
        <p:txBody>
          <a:bodyPr wrap="square">
            <a:spAutoFit/>
          </a:bodyPr>
          <a:lstStyle/>
          <a:p>
            <a:pPr algn="ctr"/>
            <a:r>
              <a:rPr sz="1400" b="1" i="0">
                <a:solidFill>
                  <a:srgbClr val="27AE60"/>
                </a:solidFill>
                <a:latin typeface="Calibri"/>
              </a:rPr>
              <a:t>Alcoholemia</a:t>
            </a:r>
          </a:p>
        </p:txBody>
      </p:sp>
      <p:sp>
        <p:nvSpPr>
          <p:cNvPr id="16" name="TextBox 15"/>
          <p:cNvSpPr txBox="1"/>
          <p:nvPr/>
        </p:nvSpPr>
        <p:spPr>
          <a:xfrm>
            <a:off x="4700016" y="1536192"/>
            <a:ext cx="1920240" cy="594360"/>
          </a:xfrm>
          <a:prstGeom prst="rect">
            <a:avLst/>
          </a:prstGeom>
          <a:noFill/>
        </p:spPr>
        <p:txBody>
          <a:bodyPr wrap="square">
            <a:spAutoFit/>
          </a:bodyPr>
          <a:lstStyle/>
          <a:p>
            <a:pPr algn="ctr"/>
            <a:r>
              <a:rPr sz="1300" b="1" i="0">
                <a:solidFill>
                  <a:srgbClr val="FFFFFF"/>
                </a:solidFill>
                <a:latin typeface="Calibri"/>
              </a:rPr>
              <a:t>$8,500
/cond/mes</a:t>
            </a:r>
          </a:p>
        </p:txBody>
      </p:sp>
      <p:sp>
        <p:nvSpPr>
          <p:cNvPr id="17" name="TextBox 16"/>
          <p:cNvSpPr txBox="1"/>
          <p:nvPr/>
        </p:nvSpPr>
        <p:spPr>
          <a:xfrm>
            <a:off x="4727448" y="2148840"/>
            <a:ext cx="1874519" cy="1280160"/>
          </a:xfrm>
          <a:prstGeom prst="rect">
            <a:avLst/>
          </a:prstGeom>
          <a:noFill/>
        </p:spPr>
        <p:txBody>
          <a:bodyPr wrap="square">
            <a:spAutoFit/>
          </a:bodyPr>
          <a:lstStyle/>
          <a:p>
            <a:r>
              <a:rPr sz="1050">
                <a:solidFill>
                  <a:srgbClr val="B4C8DC"/>
                </a:solidFill>
              </a:rPr>
              <a:t>· BLE preventiva</a:t>
            </a:r>
          </a:p>
          <a:p>
            <a:r>
              <a:rPr sz="1050">
                <a:solidFill>
                  <a:srgbClr val="B4C8DC"/>
                </a:solidFill>
              </a:rPr>
              <a:t>· Planes + cupo</a:t>
            </a:r>
          </a:p>
          <a:p>
            <a:r>
              <a:rPr sz="1050">
                <a:solidFill>
                  <a:srgbClr val="B4C8DC"/>
                </a:solidFill>
              </a:rPr>
              <a:t>· Bloqueo automático</a:t>
            </a:r>
          </a:p>
        </p:txBody>
      </p:sp>
      <p:sp>
        <p:nvSpPr>
          <p:cNvPr id="18" name="Rectangle 17"/>
          <p:cNvSpPr/>
          <p:nvPr/>
        </p:nvSpPr>
        <p:spPr>
          <a:xfrm>
            <a:off x="6867144" y="1143000"/>
            <a:ext cx="2011680" cy="2468880"/>
          </a:xfrm>
          <a:prstGeom prst="rect">
            <a:avLst/>
          </a:prstGeom>
          <a:solidFill>
            <a:srgbClr val="14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12864" y="1188720"/>
            <a:ext cx="1920240" cy="365760"/>
          </a:xfrm>
          <a:prstGeom prst="rect">
            <a:avLst/>
          </a:prstGeom>
          <a:noFill/>
        </p:spPr>
        <p:txBody>
          <a:bodyPr wrap="square">
            <a:spAutoFit/>
          </a:bodyPr>
          <a:lstStyle/>
          <a:p>
            <a:pPr algn="ctr"/>
            <a:r>
              <a:rPr sz="1400" b="1" i="0">
                <a:solidFill>
                  <a:srgbClr val="27AE60"/>
                </a:solidFill>
                <a:latin typeface="Calibri"/>
              </a:rPr>
              <a:t>PESV</a:t>
            </a:r>
          </a:p>
        </p:txBody>
      </p:sp>
      <p:sp>
        <p:nvSpPr>
          <p:cNvPr id="20" name="TextBox 19"/>
          <p:cNvSpPr txBox="1"/>
          <p:nvPr/>
        </p:nvSpPr>
        <p:spPr>
          <a:xfrm>
            <a:off x="6912864" y="1536192"/>
            <a:ext cx="1920240" cy="594360"/>
          </a:xfrm>
          <a:prstGeom prst="rect">
            <a:avLst/>
          </a:prstGeom>
          <a:noFill/>
        </p:spPr>
        <p:txBody>
          <a:bodyPr wrap="square">
            <a:spAutoFit/>
          </a:bodyPr>
          <a:lstStyle/>
          <a:p>
            <a:pPr algn="ctr"/>
            <a:r>
              <a:rPr sz="1300" b="1" i="0">
                <a:solidFill>
                  <a:srgbClr val="FFFFFF"/>
                </a:solidFill>
                <a:latin typeface="Calibri"/>
              </a:rPr>
              <a:t>$150,000
/empresa/mes</a:t>
            </a:r>
          </a:p>
        </p:txBody>
      </p:sp>
      <p:sp>
        <p:nvSpPr>
          <p:cNvPr id="21" name="TextBox 20"/>
          <p:cNvSpPr txBox="1"/>
          <p:nvPr/>
        </p:nvSpPr>
        <p:spPr>
          <a:xfrm>
            <a:off x="6940296" y="2148840"/>
            <a:ext cx="1874519" cy="1280160"/>
          </a:xfrm>
          <a:prstGeom prst="rect">
            <a:avLst/>
          </a:prstGeom>
          <a:noFill/>
        </p:spPr>
        <p:txBody>
          <a:bodyPr wrap="square">
            <a:spAutoFit/>
          </a:bodyPr>
          <a:lstStyle/>
          <a:p>
            <a:r>
              <a:rPr sz="1050">
                <a:solidFill>
                  <a:srgbClr val="B4C8DC"/>
                </a:solidFill>
              </a:rPr>
              <a:t>· F1+F2 automático</a:t>
            </a:r>
          </a:p>
          <a:p>
            <a:r>
              <a:rPr sz="1050">
                <a:solidFill>
                  <a:srgbClr val="B4C8DC"/>
                </a:solidFill>
              </a:rPr>
              <a:t>· Dashboard ejecutivo</a:t>
            </a:r>
          </a:p>
          <a:p>
            <a:r>
              <a:rPr sz="1050">
                <a:solidFill>
                  <a:srgbClr val="B4C8DC"/>
                </a:solidFill>
              </a:rPr>
              <a:t>· ISO 39001</a:t>
            </a:r>
          </a:p>
        </p:txBody>
      </p:sp>
      <p:sp>
        <p:nvSpPr>
          <p:cNvPr id="22" name="Rectangle 21"/>
          <p:cNvSpPr/>
          <p:nvPr/>
        </p:nvSpPr>
        <p:spPr>
          <a:xfrm>
            <a:off x="228600" y="3703320"/>
            <a:ext cx="8686800" cy="868680"/>
          </a:xfrm>
          <a:prstGeom prst="rect">
            <a:avLst/>
          </a:prstGeom>
          <a:solidFill>
            <a:srgbClr val="1650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040" y="3794760"/>
            <a:ext cx="8503920" cy="685800"/>
          </a:xfrm>
          <a:prstGeom prst="rect">
            <a:avLst/>
          </a:prstGeom>
          <a:noFill/>
        </p:spPr>
        <p:txBody>
          <a:bodyPr wrap="square">
            <a:spAutoFit/>
          </a:bodyPr>
          <a:lstStyle/>
          <a:p>
            <a:pPr algn="ctr"/>
            <a:r>
              <a:rPr sz="1400" b="1" i="0">
                <a:solidFill>
                  <a:srgbClr val="FFFFFF"/>
                </a:solidFill>
                <a:latin typeface="Calibri"/>
              </a:rPr>
              <a:t>PAQUETE FULL (20 vehículos / 20 conductores)  —  COP $1,048,000 / mes  —  TODO INCLUIDO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73152" cy="51480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686800" cy="502920"/>
          </a:xfrm>
          <a:prstGeom prst="rect">
            <a:avLst/>
          </a:prstGeom>
          <a:noFill/>
        </p:spPr>
        <p:txBody>
          <a:bodyPr wrap="square">
            <a:spAutoFit/>
          </a:bodyPr>
          <a:lstStyle/>
          <a:p>
            <a:pPr algn="l"/>
            <a:r>
              <a:rPr sz="2800" b="1" i="0">
                <a:solidFill>
                  <a:srgbClr val="FFFFFF"/>
                </a:solidFill>
                <a:latin typeface="Calibri"/>
              </a:rPr>
              <a:t>ProtegeMe vs Alternativas</a:t>
            </a:r>
          </a:p>
        </p:txBody>
      </p:sp>
      <p:sp>
        <p:nvSpPr>
          <p:cNvPr id="4" name="Rectangle 3"/>
          <p:cNvSpPr/>
          <p:nvPr/>
        </p:nvSpPr>
        <p:spPr>
          <a:xfrm>
            <a:off x="365760" y="713232"/>
            <a:ext cx="8412480" cy="182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28600" y="822960"/>
          <a:ext cx="8686800" cy="4160520"/>
        </p:xfrm>
        <a:graphic>
          <a:graphicData uri="http://schemas.openxmlformats.org/drawingml/2006/table">
            <a:tbl>
              <a:tblPr firstRow="1" bandRow="1">
                <a:tableStyleId>{5C22544A-7EE6-4342-B048-85BDC9FD1C3A}</a:tableStyleId>
              </a:tblPr>
              <a:tblGrid>
                <a:gridCol w="2560320"/>
                <a:gridCol w="2011680"/>
                <a:gridCol w="2011680"/>
                <a:gridCol w="2103120"/>
              </a:tblGrid>
              <a:tr h="520065">
                <a:tc>
                  <a:txBody>
                    <a:bodyPr/>
                    <a:lstStyle/>
                    <a:p>
                      <a:r>
                        <a:rPr sz="1100" b="1">
                          <a:solidFill>
                            <a:srgbClr val="FFFFFF"/>
                          </a:solidFill>
                        </a:rPr>
                        <a:t>Funcionalidad</a:t>
                      </a:r>
                    </a:p>
                  </a:txBody>
                  <a:tcPr>
                    <a:solidFill>
                      <a:srgbClr val="1B2A4A"/>
                    </a:solidFill>
                  </a:tcPr>
                </a:tc>
                <a:tc>
                  <a:txBody>
                    <a:bodyPr/>
                    <a:lstStyle/>
                    <a:p>
                      <a:r>
                        <a:rPr sz="1100" b="1">
                          <a:solidFill>
                            <a:srgbClr val="FFFFFF"/>
                          </a:solidFill>
                        </a:rPr>
                        <a:t>ProtegeMe</a:t>
                      </a:r>
                    </a:p>
                  </a:txBody>
                  <a:tcPr>
                    <a:solidFill>
                      <a:srgbClr val="1B2A4A"/>
                    </a:solidFill>
                  </a:tcPr>
                </a:tc>
                <a:tc>
                  <a:txBody>
                    <a:bodyPr/>
                    <a:lstStyle/>
                    <a:p>
                      <a:r>
                        <a:rPr sz="1100" b="1">
                          <a:solidFill>
                            <a:srgbClr val="FFFFFF"/>
                          </a:solidFill>
                        </a:rPr>
                        <a:t>GPS Genérico</a:t>
                      </a:r>
                    </a:p>
                  </a:txBody>
                  <a:tcPr>
                    <a:solidFill>
                      <a:srgbClr val="1B2A4A"/>
                    </a:solidFill>
                  </a:tcPr>
                </a:tc>
                <a:tc>
                  <a:txBody>
                    <a:bodyPr/>
                    <a:lstStyle/>
                    <a:p>
                      <a:r>
                        <a:rPr sz="1100" b="1">
                          <a:solidFill>
                            <a:srgbClr val="FFFFFF"/>
                          </a:solidFill>
                        </a:rPr>
                        <a:t>Consultoría</a:t>
                      </a:r>
                    </a:p>
                  </a:txBody>
                  <a:tcPr>
                    <a:solidFill>
                      <a:srgbClr val="1B2A4A"/>
                    </a:solidFill>
                  </a:tcPr>
                </a:tc>
              </a:tr>
              <a:tr h="520065">
                <a:tc>
                  <a:txBody>
                    <a:bodyPr/>
                    <a:lstStyle/>
                    <a:p>
                      <a:r>
                        <a:rPr sz="1100" b="0">
                          <a:solidFill>
                            <a:srgbClr val="BEC8D7"/>
                          </a:solidFill>
                        </a:rPr>
                        <a:t>Envío automático SICOV</a:t>
                      </a:r>
                    </a:p>
                  </a:txBody>
                  <a:tcPr>
                    <a:solidFill>
                      <a:srgbClr val="0F1C37"/>
                    </a:solidFill>
                  </a:tcPr>
                </a:tc>
                <a:tc>
                  <a:txBody>
                    <a:bodyPr/>
                    <a:lstStyle/>
                    <a:p>
                      <a:r>
                        <a:rPr sz="1100" b="1">
                          <a:solidFill>
                            <a:srgbClr val="27AE60"/>
                          </a:solidFill>
                        </a:rPr>
                        <a:t>✅ Automático</a:t>
                      </a:r>
                    </a:p>
                  </a:txBody>
                  <a:tcPr>
                    <a:solidFill>
                      <a:srgbClr val="163C28"/>
                    </a:solidFill>
                  </a:tcPr>
                </a:tc>
                <a:tc>
                  <a:txBody>
                    <a:bodyPr/>
                    <a:lstStyle/>
                    <a:p>
                      <a:r>
                        <a:rPr sz="1100" b="0">
                          <a:solidFill>
                            <a:srgbClr val="BEC8D7"/>
                          </a:solidFill>
                        </a:rPr>
                        <a:t>❌</a:t>
                      </a:r>
                    </a:p>
                  </a:txBody>
                  <a:tcPr>
                    <a:solidFill>
                      <a:srgbClr val="0F1C37"/>
                    </a:solidFill>
                  </a:tcPr>
                </a:tc>
                <a:tc>
                  <a:txBody>
                    <a:bodyPr/>
                    <a:lstStyle/>
                    <a:p>
                      <a:r>
                        <a:rPr sz="1100" b="0">
                          <a:solidFill>
                            <a:srgbClr val="BEC8D7"/>
                          </a:solidFill>
                        </a:rPr>
                        <a:t>❌ Manual</a:t>
                      </a:r>
                    </a:p>
                  </a:txBody>
                  <a:tcPr>
                    <a:solidFill>
                      <a:srgbClr val="0F1C37"/>
                    </a:solidFill>
                  </a:tcPr>
                </a:tc>
              </a:tr>
              <a:tr h="520065">
                <a:tc>
                  <a:txBody>
                    <a:bodyPr/>
                    <a:lstStyle/>
                    <a:p>
                      <a:r>
                        <a:rPr sz="1100" b="0">
                          <a:solidFill>
                            <a:srgbClr val="BEC8D7"/>
                          </a:solidFill>
                        </a:rPr>
                        <a:t>F2 auto-calculado</a:t>
                      </a:r>
                    </a:p>
                  </a:txBody>
                  <a:tcPr>
                    <a:solidFill>
                      <a:srgbClr val="142341"/>
                    </a:solidFill>
                  </a:tcPr>
                </a:tc>
                <a:tc>
                  <a:txBody>
                    <a:bodyPr/>
                    <a:lstStyle/>
                    <a:p>
                      <a:r>
                        <a:rPr sz="1100" b="1">
                          <a:solidFill>
                            <a:srgbClr val="27AE60"/>
                          </a:solidFill>
                        </a:rPr>
                        <a:t>✅ Sí</a:t>
                      </a:r>
                    </a:p>
                  </a:txBody>
                  <a:tcPr>
                    <a:solidFill>
                      <a:srgbClr val="163C28"/>
                    </a:solidFill>
                  </a:tcPr>
                </a:tc>
                <a:tc>
                  <a:txBody>
                    <a:bodyPr/>
                    <a:lstStyle/>
                    <a:p>
                      <a:r>
                        <a:rPr sz="1100" b="0">
                          <a:solidFill>
                            <a:srgbClr val="BEC8D7"/>
                          </a:solidFill>
                        </a:rPr>
                        <a:t>❌</a:t>
                      </a:r>
                    </a:p>
                  </a:txBody>
                  <a:tcPr>
                    <a:solidFill>
                      <a:srgbClr val="142341"/>
                    </a:solidFill>
                  </a:tcPr>
                </a:tc>
                <a:tc>
                  <a:txBody>
                    <a:bodyPr/>
                    <a:lstStyle/>
                    <a:p>
                      <a:r>
                        <a:rPr sz="1100" b="0">
                          <a:solidFill>
                            <a:srgbClr val="BEC8D7"/>
                          </a:solidFill>
                        </a:rPr>
                        <a:t>⚠️ Parcial</a:t>
                      </a:r>
                    </a:p>
                  </a:txBody>
                  <a:tcPr>
                    <a:solidFill>
                      <a:srgbClr val="142341"/>
                    </a:solidFill>
                  </a:tcPr>
                </a:tc>
              </a:tr>
              <a:tr h="520065">
                <a:tc>
                  <a:txBody>
                    <a:bodyPr/>
                    <a:lstStyle/>
                    <a:p>
                      <a:r>
                        <a:rPr sz="1100" b="0">
                          <a:solidFill>
                            <a:srgbClr val="BEC8D7"/>
                          </a:solidFill>
                        </a:rPr>
                        <a:t>Alcoholemia BLE</a:t>
                      </a:r>
                    </a:p>
                  </a:txBody>
                  <a:tcPr>
                    <a:solidFill>
                      <a:srgbClr val="0F1C37"/>
                    </a:solidFill>
                  </a:tcPr>
                </a:tc>
                <a:tc>
                  <a:txBody>
                    <a:bodyPr/>
                    <a:lstStyle/>
                    <a:p>
                      <a:r>
                        <a:rPr sz="1100" b="1">
                          <a:solidFill>
                            <a:srgbClr val="27AE60"/>
                          </a:solidFill>
                        </a:rPr>
                        <a:t>✅ Integrada</a:t>
                      </a:r>
                    </a:p>
                  </a:txBody>
                  <a:tcPr>
                    <a:solidFill>
                      <a:srgbClr val="163C28"/>
                    </a:solidFill>
                  </a:tcPr>
                </a:tc>
                <a:tc>
                  <a:txBody>
                    <a:bodyPr/>
                    <a:lstStyle/>
                    <a:p>
                      <a:r>
                        <a:rPr sz="1100" b="0">
                          <a:solidFill>
                            <a:srgbClr val="BEC8D7"/>
                          </a:solidFill>
                        </a:rPr>
                        <a:t>❌</a:t>
                      </a:r>
                    </a:p>
                  </a:txBody>
                  <a:tcPr>
                    <a:solidFill>
                      <a:srgbClr val="0F1C37"/>
                    </a:solidFill>
                  </a:tcPr>
                </a:tc>
                <a:tc>
                  <a:txBody>
                    <a:bodyPr/>
                    <a:lstStyle/>
                    <a:p>
                      <a:r>
                        <a:rPr sz="1100" b="0">
                          <a:solidFill>
                            <a:srgbClr val="BEC8D7"/>
                          </a:solidFill>
                        </a:rPr>
                        <a:t>❌</a:t>
                      </a:r>
                    </a:p>
                  </a:txBody>
                  <a:tcPr>
                    <a:solidFill>
                      <a:srgbClr val="0F1C37"/>
                    </a:solidFill>
                  </a:tcPr>
                </a:tc>
              </a:tr>
              <a:tr h="520065">
                <a:tc>
                  <a:txBody>
                    <a:bodyPr/>
                    <a:lstStyle/>
                    <a:p>
                      <a:r>
                        <a:rPr sz="1100" b="0">
                          <a:solidFill>
                            <a:srgbClr val="BEC8D7"/>
                          </a:solidFill>
                        </a:rPr>
                        <a:t>Alertas velocidad real time</a:t>
                      </a:r>
                    </a:p>
                  </a:txBody>
                  <a:tcPr>
                    <a:solidFill>
                      <a:srgbClr val="142341"/>
                    </a:solidFill>
                  </a:tcPr>
                </a:tc>
                <a:tc>
                  <a:txBody>
                    <a:bodyPr/>
                    <a:lstStyle/>
                    <a:p>
                      <a:r>
                        <a:rPr sz="1100" b="1">
                          <a:solidFill>
                            <a:srgbClr val="27AE60"/>
                          </a:solidFill>
                        </a:rPr>
                        <a:t>✅ Por zona OSM</a:t>
                      </a:r>
                    </a:p>
                  </a:txBody>
                  <a:tcPr>
                    <a:solidFill>
                      <a:srgbClr val="163C28"/>
                    </a:solidFill>
                  </a:tcPr>
                </a:tc>
                <a:tc>
                  <a:txBody>
                    <a:bodyPr/>
                    <a:lstStyle/>
                    <a:p>
                      <a:r>
                        <a:rPr sz="1100" b="0">
                          <a:solidFill>
                            <a:srgbClr val="BEC8D7"/>
                          </a:solidFill>
                        </a:rPr>
                        <a:t>⚠️ Básico</a:t>
                      </a:r>
                    </a:p>
                  </a:txBody>
                  <a:tcPr>
                    <a:solidFill>
                      <a:srgbClr val="142341"/>
                    </a:solidFill>
                  </a:tcPr>
                </a:tc>
                <a:tc>
                  <a:txBody>
                    <a:bodyPr/>
                    <a:lstStyle/>
                    <a:p>
                      <a:r>
                        <a:rPr sz="1100" b="0">
                          <a:solidFill>
                            <a:srgbClr val="BEC8D7"/>
                          </a:solidFill>
                        </a:rPr>
                        <a:t>❌</a:t>
                      </a:r>
                    </a:p>
                  </a:txBody>
                  <a:tcPr>
                    <a:solidFill>
                      <a:srgbClr val="142341"/>
                    </a:solidFill>
                  </a:tcPr>
                </a:tc>
              </a:tr>
              <a:tr h="520065">
                <a:tc>
                  <a:txBody>
                    <a:bodyPr/>
                    <a:lstStyle/>
                    <a:p>
                      <a:r>
                        <a:rPr sz="1100" b="0">
                          <a:solidFill>
                            <a:srgbClr val="BEC8D7"/>
                          </a:solidFill>
                        </a:rPr>
                        <a:t>Score conductual / viaje</a:t>
                      </a:r>
                    </a:p>
                  </a:txBody>
                  <a:tcPr>
                    <a:solidFill>
                      <a:srgbClr val="0F1C37"/>
                    </a:solidFill>
                  </a:tcPr>
                </a:tc>
                <a:tc>
                  <a:txBody>
                    <a:bodyPr/>
                    <a:lstStyle/>
                    <a:p>
                      <a:r>
                        <a:rPr sz="1100" b="1">
                          <a:solidFill>
                            <a:srgbClr val="27AE60"/>
                          </a:solidFill>
                        </a:rPr>
                        <a:t>✅ Automático</a:t>
                      </a:r>
                    </a:p>
                  </a:txBody>
                  <a:tcPr>
                    <a:solidFill>
                      <a:srgbClr val="163C28"/>
                    </a:solidFill>
                  </a:tcPr>
                </a:tc>
                <a:tc>
                  <a:txBody>
                    <a:bodyPr/>
                    <a:lstStyle/>
                    <a:p>
                      <a:r>
                        <a:rPr sz="1100" b="0">
                          <a:solidFill>
                            <a:srgbClr val="BEC8D7"/>
                          </a:solidFill>
                        </a:rPr>
                        <a:t>⚠️ Manual</a:t>
                      </a:r>
                    </a:p>
                  </a:txBody>
                  <a:tcPr>
                    <a:solidFill>
                      <a:srgbClr val="0F1C37"/>
                    </a:solidFill>
                  </a:tcPr>
                </a:tc>
                <a:tc>
                  <a:txBody>
                    <a:bodyPr/>
                    <a:lstStyle/>
                    <a:p>
                      <a:r>
                        <a:rPr sz="1100" b="0">
                          <a:solidFill>
                            <a:srgbClr val="BEC8D7"/>
                          </a:solidFill>
                        </a:rPr>
                        <a:t>❌</a:t>
                      </a:r>
                    </a:p>
                  </a:txBody>
                  <a:tcPr>
                    <a:solidFill>
                      <a:srgbClr val="0F1C37"/>
                    </a:solidFill>
                  </a:tcPr>
                </a:tc>
              </a:tr>
              <a:tr h="520065">
                <a:tc>
                  <a:txBody>
                    <a:bodyPr/>
                    <a:lstStyle/>
                    <a:p>
                      <a:r>
                        <a:rPr sz="1100" b="0">
                          <a:solidFill>
                            <a:srgbClr val="BEC8D7"/>
                          </a:solidFill>
                        </a:rPr>
                        <a:t>Monitor flota web en vivo</a:t>
                      </a:r>
                    </a:p>
                  </a:txBody>
                  <a:tcPr>
                    <a:solidFill>
                      <a:srgbClr val="142341"/>
                    </a:solidFill>
                  </a:tcPr>
                </a:tc>
                <a:tc>
                  <a:txBody>
                    <a:bodyPr/>
                    <a:lstStyle/>
                    <a:p>
                      <a:r>
                        <a:rPr sz="1100" b="1">
                          <a:solidFill>
                            <a:srgbClr val="27AE60"/>
                          </a:solidFill>
                        </a:rPr>
                        <a:t>✅ Sí</a:t>
                      </a:r>
                    </a:p>
                  </a:txBody>
                  <a:tcPr>
                    <a:solidFill>
                      <a:srgbClr val="163C28"/>
                    </a:solidFill>
                  </a:tcPr>
                </a:tc>
                <a:tc>
                  <a:txBody>
                    <a:bodyPr/>
                    <a:lstStyle/>
                    <a:p>
                      <a:r>
                        <a:rPr sz="1100" b="0">
                          <a:solidFill>
                            <a:srgbClr val="BEC8D7"/>
                          </a:solidFill>
                        </a:rPr>
                        <a:t>⚠️ Solo GPS</a:t>
                      </a:r>
                    </a:p>
                  </a:txBody>
                  <a:tcPr>
                    <a:solidFill>
                      <a:srgbClr val="142341"/>
                    </a:solidFill>
                  </a:tcPr>
                </a:tc>
                <a:tc>
                  <a:txBody>
                    <a:bodyPr/>
                    <a:lstStyle/>
                    <a:p>
                      <a:r>
                        <a:rPr sz="1100" b="0">
                          <a:solidFill>
                            <a:srgbClr val="BEC8D7"/>
                          </a:solidFill>
                        </a:rPr>
                        <a:t>❌</a:t>
                      </a:r>
                    </a:p>
                  </a:txBody>
                  <a:tcPr>
                    <a:solidFill>
                      <a:srgbClr val="142341"/>
                    </a:solidFill>
                  </a:tcPr>
                </a:tc>
              </a:tr>
              <a:tr h="520065">
                <a:tc>
                  <a:txBody>
                    <a:bodyPr/>
                    <a:lstStyle/>
                    <a:p>
                      <a:r>
                        <a:rPr sz="1100" b="0">
                          <a:solidFill>
                            <a:srgbClr val="BEC8D7"/>
                          </a:solidFill>
                        </a:rPr>
                        <a:t>Costo aprox.</a:t>
                      </a:r>
                    </a:p>
                  </a:txBody>
                  <a:tcPr>
                    <a:solidFill>
                      <a:srgbClr val="0F1C37"/>
                    </a:solidFill>
                  </a:tcPr>
                </a:tc>
                <a:tc>
                  <a:txBody>
                    <a:bodyPr/>
                    <a:lstStyle/>
                    <a:p>
                      <a:r>
                        <a:rPr sz="1100" b="1">
                          <a:solidFill>
                            <a:srgbClr val="27AE60"/>
                          </a:solidFill>
                        </a:rPr>
                        <a:t>~$52K/veh/mes full</a:t>
                      </a:r>
                    </a:p>
                  </a:txBody>
                  <a:tcPr>
                    <a:solidFill>
                      <a:srgbClr val="163C28"/>
                    </a:solidFill>
                  </a:tcPr>
                </a:tc>
                <a:tc>
                  <a:txBody>
                    <a:bodyPr/>
                    <a:lstStyle/>
                    <a:p>
                      <a:r>
                        <a:rPr sz="1100" b="0">
                          <a:solidFill>
                            <a:srgbClr val="BEC8D7"/>
                          </a:solidFill>
                        </a:rPr>
                        <a:t>Variable</a:t>
                      </a:r>
                    </a:p>
                  </a:txBody>
                  <a:tcPr>
                    <a:solidFill>
                      <a:srgbClr val="0F1C37"/>
                    </a:solidFill>
                  </a:tcPr>
                </a:tc>
                <a:tc>
                  <a:txBody>
                    <a:bodyPr/>
                    <a:lstStyle/>
                    <a:p>
                      <a:r>
                        <a:rPr sz="1100" b="0">
                          <a:solidFill>
                            <a:srgbClr val="BEC8D7"/>
                          </a:solidFill>
                        </a:rPr>
                        <a:t>$3M–$15M proyecto</a:t>
                      </a:r>
                    </a:p>
                  </a:txBody>
                  <a:tcPr>
                    <a:solidFill>
                      <a:srgbClr val="0F1C37"/>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73152" cy="51480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9070848" cy="5148072"/>
          </a:xfrm>
          <a:prstGeom prst="rect">
            <a:avLst/>
          </a:prstGeom>
          <a:solidFill>
            <a:srgbClr val="12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48640"/>
            <a:ext cx="8229600" cy="1005840"/>
          </a:xfrm>
          <a:prstGeom prst="rect">
            <a:avLst/>
          </a:prstGeom>
          <a:noFill/>
        </p:spPr>
        <p:txBody>
          <a:bodyPr wrap="square">
            <a:spAutoFit/>
          </a:bodyPr>
          <a:lstStyle/>
          <a:p>
            <a:pPr algn="ctr"/>
            <a:r>
              <a:rPr sz="5400" b="1" i="0">
                <a:solidFill>
                  <a:srgbClr val="FFFFFF"/>
                </a:solidFill>
                <a:latin typeface="Calibri"/>
              </a:rPr>
              <a:t>¿Hablamos?</a:t>
            </a:r>
          </a:p>
        </p:txBody>
      </p:sp>
      <p:sp>
        <p:nvSpPr>
          <p:cNvPr id="5" name="TextBox 4"/>
          <p:cNvSpPr txBox="1"/>
          <p:nvPr/>
        </p:nvSpPr>
        <p:spPr>
          <a:xfrm>
            <a:off x="457200" y="1600200"/>
            <a:ext cx="8229600" cy="502920"/>
          </a:xfrm>
          <a:prstGeom prst="rect">
            <a:avLst/>
          </a:prstGeom>
          <a:noFill/>
        </p:spPr>
        <p:txBody>
          <a:bodyPr wrap="square">
            <a:spAutoFit/>
          </a:bodyPr>
          <a:lstStyle/>
          <a:p>
            <a:pPr algn="ctr"/>
            <a:r>
              <a:rPr sz="1800" b="1" i="0">
                <a:solidFill>
                  <a:srgbClr val="27AE60"/>
                </a:solidFill>
                <a:latin typeface="Calibri"/>
              </a:rPr>
              <a:t>Agende una demo gratuita de 30 minutos.</a:t>
            </a:r>
          </a:p>
        </p:txBody>
      </p:sp>
      <p:sp>
        <p:nvSpPr>
          <p:cNvPr id="6" name="TextBox 5"/>
          <p:cNvSpPr txBox="1"/>
          <p:nvPr/>
        </p:nvSpPr>
        <p:spPr>
          <a:xfrm>
            <a:off x="457200" y="2148840"/>
            <a:ext cx="8229600" cy="731520"/>
          </a:xfrm>
          <a:prstGeom prst="rect">
            <a:avLst/>
          </a:prstGeom>
          <a:noFill/>
        </p:spPr>
        <p:txBody>
          <a:bodyPr wrap="square">
            <a:spAutoFit/>
          </a:bodyPr>
          <a:lstStyle/>
          <a:p>
            <a:pPr algn="ctr"/>
            <a:r>
              <a:rPr sz="1400" b="0" i="0">
                <a:solidFill>
                  <a:srgbClr val="B4C8DC"/>
                </a:solidFill>
                <a:latin typeface="Calibri"/>
              </a:rPr>
              <a:t>Le mostramos cómo ProtegeMe se configura para su empresa
en menos de 1 semana.</a:t>
            </a:r>
          </a:p>
        </p:txBody>
      </p:sp>
      <p:sp>
        <p:nvSpPr>
          <p:cNvPr id="7" name="Rectangle 6"/>
          <p:cNvSpPr/>
          <p:nvPr/>
        </p:nvSpPr>
        <p:spPr>
          <a:xfrm>
            <a:off x="1828800" y="3017520"/>
            <a:ext cx="5486400" cy="182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154680"/>
            <a:ext cx="8229600" cy="365760"/>
          </a:xfrm>
          <a:prstGeom prst="rect">
            <a:avLst/>
          </a:prstGeom>
          <a:noFill/>
        </p:spPr>
        <p:txBody>
          <a:bodyPr wrap="square">
            <a:spAutoFit/>
          </a:bodyPr>
          <a:lstStyle/>
          <a:p>
            <a:pPr algn="ctr"/>
            <a:r>
              <a:rPr sz="1000" b="0" i="1">
                <a:solidFill>
                  <a:srgbClr val="969696"/>
                </a:solidFill>
                <a:latin typeface="Calibri"/>
              </a:rPr>
              <a:t>ITFusion  |  Abril 2026  |  Documento Comercial Confidencial</a:t>
            </a:r>
          </a:p>
        </p:txBody>
      </p:sp>
      <p:sp>
        <p:nvSpPr>
          <p:cNvPr id="9" name="TextBox 8"/>
          <p:cNvSpPr txBox="1"/>
          <p:nvPr/>
        </p:nvSpPr>
        <p:spPr>
          <a:xfrm>
            <a:off x="182880" y="3749039"/>
            <a:ext cx="8778240" cy="1188720"/>
          </a:xfrm>
          <a:prstGeom prst="rect">
            <a:avLst/>
          </a:prstGeom>
          <a:noFill/>
        </p:spPr>
        <p:txBody>
          <a:bodyPr wrap="square">
            <a:spAutoFit/>
          </a:bodyPr>
          <a:lstStyle/>
          <a:p>
            <a:r>
              <a:rPr b="1" sz="900">
                <a:solidFill>
                  <a:srgbClr val="27AE60"/>
                </a:solidFill>
              </a:rPr>
              <a:t>🎨 GRÁFICO — Cierre:  </a:t>
            </a:r>
            <a:r>
              <a:rPr sz="900" i="1">
                <a:solidFill>
                  <a:srgbClr val="96C896"/>
                </a:solidFill>
              </a:rPr>
              <a:t>Fondo degradado azul marino. Escudo ProtegeMe grande iluminado en verde brillante. Texto "Su flota, protegida." en tipografía bold blanca. Íconos contacto en blanco. Hero section de landing page premium, composición centrada, elegante.</a:t>
            </a:r>
          </a:p>
        </p:txBody>
      </p:sp>
      <p:sp>
        <p:nvSpPr>
          <p:cNvPr id="10" name="Rectangle 9"/>
          <p:cNvSpPr/>
          <p:nvPr/>
        </p:nvSpPr>
        <p:spPr>
          <a:xfrm>
            <a:off x="137160" y="3703320"/>
            <a:ext cx="8869680" cy="1280160"/>
          </a:xfrm>
          <a:prstGeom prst="rect">
            <a:avLst/>
          </a:prstGeom>
          <a:solidFill>
            <a:srgbClr val="1E3C28"/>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